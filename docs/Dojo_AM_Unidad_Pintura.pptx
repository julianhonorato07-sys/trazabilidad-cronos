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para crear el Dojo de Mantenimiento Autónomo de la Unidad Pintura. Un espacio físico donde los operarios aprenden haciendo. Es el mismo modelo que ya funcionó en Betim Powertrain.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es que los operarios dejen de depender de Mantenimiento para cosas básicas y se vuelvan dueños de su propio puesto. Mantenimiento se libera para las fallas complejas.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Dojo desarrolla personas con aprendizaje práctico, accesible y estructurado. Aquí aprendemos, practicamos y crecemos juntos.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el Dojo se enseñan los 3 primeros pasos del Mantenimiento Autónomo: limpieza inicial, eliminación de fuentes de suciedad y creación de estándares de limpieza, lubricación y apriete.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problemas reales de Pintura: pistolas tapadas, filtros saturados, bombas con fugas, mangueras de alta presión y overspray en cabina. Cada uno se conecta con los pasos del AM que lo resuelven.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estaciones prácticas, cada una con una maqueta real: aplicación, circulación de pintura, mangueras de alta presión y cabina. Los operarios rotan por las cuatro.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una sesión en seis pasos: evaluación inicial, bienvenida con los tótems, rotación por estaciones con tres juegos prácticos, evaluación final, compromiso y certificación. El formato de grupos y duración es una propuesta a ajustar en el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 de la sesión: evaluación inicial con el AM Game en la PC. No aprueba ni desaprueba, sirve como línea base para comparar con la evaluación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2: bienvenida. El multiplicador recorre los cinco tótems con el grupo: qué es el AM, la visión general de los pasos 0 a 4 y el detalle de los pasos 1, 2 y 3, en lenguaje simple y con ejemplos de la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3: rotación por estaciones con tres juegos prácticos. Juego 1, acomodar y clasificar los objetos. Juego 2, limpieza de la maqueta. Juego 3, video donde el operario identifica diez cosas que se hicieron mal en el ciclo de limpieza.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4 a 6: evaluación final con el mismo AM Game para verificar lo aprendido, compromiso personal de aplicación en el puesto y entrega del certificado con registro en la matriz de habilidades.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fases: diseño, construcción, piloto y despliegue. Para arrancar necesitamos el espacio, componentes reales, multiplicadores y tiempo de los operarios.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propuesto de 29 semanas: diseño en septiembre, construcción de octubre a noviembre, piloto en diciembre y despliegue de enero a abril de 2027. Los hitos marcan las decisiones clave: aprobación del layout y presupuesto, maquetas listas, go/no-go y cierre del despliegue.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propuestos: operarios certificados, participación en los juegos, anomalías detectadas por operarios, intervenciones básicas resueltas por Producción y paradas por causas básicas.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Dojo es un espacio para aprender, practicar y crecer juntos. El próximo paso es aprobar el espacio y arrancar la fase de diseño.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jp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0720" cy="6858000"/>
          </a:xfrm>
          <a:prstGeom prst="rect">
            <a:avLst/>
          </a:prstGeom>
          <a:solidFill>
            <a:srgbClr val="03142F">
              <a:alpha val="65000"/>
            </a:srgbClr>
          </a:solidFill>
          <a:ln w="12700">
            <a:solidFill>
              <a:srgbClr val="03142F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 ·  UNIDAD PINTURA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3703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haciendo: operarios dueños de su propio puesto.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4709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</a:t>
            </a:r>
            <a:pPr indent="0" marL="0">
              <a:buNone/>
            </a:pPr>
            <a:r>
              <a:rPr lang="en-US" sz="13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Unidad Pintura  ·  Manutenção Autônoma</a:t>
            </a:r>
            <a:endParaRPr lang="en-US" sz="1300" dirty="0"/>
          </a:p>
        </p:txBody>
      </p:sp>
      <p:pic>
        <p:nvPicPr>
          <p:cNvPr id="8" name="Image 1" descr="assets/am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5394960"/>
            <a:ext cx="1143000" cy="1060704"/>
          </a:xfrm>
          <a:prstGeom prst="rect">
            <a:avLst/>
          </a:prstGeom>
        </p:spPr>
      </p:pic>
      <p:pic>
        <p:nvPicPr>
          <p:cNvPr id="9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4434840"/>
            <a:ext cx="1371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 Dojo en Pintura?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muchas paradas cortas dependen de Mantenimiento para tareas que el operario puede resolver.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66360" cy="4572000"/>
          </a:xfrm>
          <a:prstGeom prst="roundRect">
            <a:avLst>
              <a:gd name="adj" fmla="val 24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excla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 de Mantenimiento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limpiar una pistola, cambiar un filtro o apretar una conexión.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68680" y="34290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355473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cortas y repetitivas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pistolas tapadas, filtros saturados y fugas en bombas.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68680" y="43434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2" descr="icons/ey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410" y="446913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tarde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ya generaron un defecto de pintura o una parada.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53835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Conocimiento en pocas personas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6002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estándares visibles en el puesto de trabajo.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532120" y="3657600"/>
            <a:ext cx="685800" cy="68580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4" name="Image 4" descr="icons/arrow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3570" y="3829050"/>
            <a:ext cx="342900" cy="3429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92240" y="1691640"/>
            <a:ext cx="5148072" cy="4572000"/>
          </a:xfrm>
          <a:prstGeom prst="roundRect">
            <a:avLst>
              <a:gd name="adj" fmla="val 2400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681228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DOJO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812280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5" descr="icons/user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010" y="2640330"/>
            <a:ext cx="251460" cy="2514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543800" y="24963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operario es dueño de su puesto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7543800" y="27889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limpia, inspecciona y resuelve lo básico por sí mismo.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812280" y="34290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2" name="Image 6" descr="icons/clipboard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8010" y="3554730"/>
            <a:ext cx="251460" cy="2514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410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lubricación y apriete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7543800" y="37033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rutina estandarizada en cada turno.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6812280" y="43434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6" name="Image 7" descr="icons/search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010" y="4469130"/>
            <a:ext cx="251460" cy="25146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543800" y="4325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temprano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7543800" y="46177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etiquetadas y resueltas antes de convertirse en falla.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6812280" y="5257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40" name="Image 8" descr="icons/tools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8010" y="5383530"/>
            <a:ext cx="251460" cy="25146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7543800" y="52395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 enfocado en lo complejo</a:t>
            </a:r>
            <a:endParaRPr lang="en-US" sz="1400" dirty="0"/>
          </a:p>
        </p:txBody>
      </p:sp>
      <p:sp>
        <p:nvSpPr>
          <p:cNvPr id="42" name="Text 31"/>
          <p:cNvSpPr txBox="1"/>
          <p:nvPr/>
        </p:nvSpPr>
        <p:spPr>
          <a:xfrm>
            <a:off x="7543800" y="553212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 mayores, mejoras y confiabilidad.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Dojo de AM?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dojo_betim_w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846320" cy="272491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AM de Betim Powertrain, referencia del modelo.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4526280"/>
            <a:ext cx="484632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709160"/>
            <a:ext cx="4297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espacio físico de entrenamiento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la unidad, donde los operarios de producción aprenden haciendo, con las manos en la masa, sobre maquetas reales de los equipos de Pintura.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2648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0" name="Image 1" descr="icons/targ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70307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2648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conocimiento en habilidades: el operario hace, no solo escucha.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869680" y="132588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0" y="155448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5" name="Image 2" descr="icons/boo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590" y="170307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4400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lo hacemos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0" y="28986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 simple y práctico, estándares accesibles y aprendizaje continuo.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85216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12648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0" name="Image 3" descr="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5070" y="430911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2648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12648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viva de patrones y buenas prácticas que se adapta a los desafíos de la planta.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869680" y="3931920"/>
            <a:ext cx="277063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44000" y="4160520"/>
            <a:ext cx="594360" cy="59436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4" descr="icons/handshak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590" y="4309110"/>
            <a:ext cx="297180" cy="297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44000" y="4846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 colaborativa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144000" y="5504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área y multiplicadores definen prioridades y guían el desarrollo del equipo.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3 primeros pasos del 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van a aprender los operarios en el Dojo, paso a paso.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611880" cy="86868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697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9" name="Image 0" descr="icons/broom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346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es inspeccionar.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profunda del equipo, con las manos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y etiquetar anomalías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Restablecer las condiciones básicas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14" name="Image 1" descr="icons/che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5175504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8016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limpio y anomalías etiquetadas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97680" y="1325880"/>
            <a:ext cx="3611880" cy="86868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29768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0" y="2697480"/>
            <a:ext cx="548640" cy="54864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0" name="Image 2" descr="icons/searc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83464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Eliminar fuentes de suciedad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Atacar la causa, no el síntoma.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de dónde viene la suciedad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Contener o eliminar la fuente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el acceso para limpiar e inspeccionar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25" name="Image 3" descr="icons/check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02920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de suciedad eliminadas o contenidas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8046720" y="1325880"/>
            <a:ext cx="3611880" cy="86868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50392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2200" dirty="0"/>
          </a:p>
        </p:txBody>
      </p:sp>
      <p:sp>
        <p:nvSpPr>
          <p:cNvPr id="29" name="Shape 23"/>
          <p:cNvSpPr/>
          <p:nvPr/>
        </p:nvSpPr>
        <p:spPr>
          <a:xfrm>
            <a:off x="8046720" y="242316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321040" y="2697480"/>
            <a:ext cx="548640" cy="54864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1" name="Image 4" descr="icons/clipboard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2834640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006840" y="26517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Estándares de limpieza, lubricación y apriete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3429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la rutina no dependa de la memoria.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832104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qué, cómo, cuándo y quién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visual en el puesto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 cada turno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321040" y="5074920"/>
            <a:ext cx="3063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0EA"/>
            </a:solidFill>
            <a:prstDash val="solid"/>
          </a:ln>
        </p:spPr>
      </p:sp>
      <p:pic>
        <p:nvPicPr>
          <p:cNvPr id="36" name="Image 5" descr="icons/check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175504"/>
            <a:ext cx="256032" cy="25603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50749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Entregable: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LLA visible en el puesto</a:t>
            </a:r>
            <a:endParaRPr lang="en-US" sz="1050" dirty="0"/>
          </a:p>
        </p:txBody>
      </p:sp>
      <p:sp>
        <p:nvSpPr>
          <p:cNvPr id="38" name="Shape 30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9" name="Image 6" descr="icons/targe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007608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188720" y="58978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Paso 0.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 de KPIs y priorización de máquinas, definidas junto con Mantenimiento antes de entrar al Dojo.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Aplicado a problemas reales de Pintura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teoría abstracta: cada paso se practica sobre lo que el operario ve todos los días en su línea.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0" descr="icons/spray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60" y="22174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Pistolas tapadas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Boquillas y agujas obstruidas por pintura seca. Se practica desmontaje, limpieza y verificación del patrón de aplicación.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98064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438144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1" descr="icons/filter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22174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80944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Filtros saturados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980944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Caída de presión y defectos por filtros colmatados. Se practica inspección, cambio y registro de la frecuencia.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55264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255264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47488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7568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2" descr="icons/pump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3308" y="22174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230368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Bombas con fugas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230368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Fugas en sellos y conexiones que ensucian y desperdician pintura. Se practica detección, etiquetado y apriete correcto.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504688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504688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296912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936992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8" name="Image 3" descr="icons/hose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2732" y="2217420"/>
            <a:ext cx="411480" cy="4114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479792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de alta presión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479792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Desgaste, roces y conexiones flojas con riesgo para la seguridad. Se practica inspección, rutas y apriete seguro.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754112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54112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546336" y="1737360"/>
            <a:ext cx="2103120" cy="43434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10186416" y="2011680"/>
            <a:ext cx="822960" cy="82296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35" name="Image 4" descr="icons/win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2156" y="2217420"/>
            <a:ext cx="411480" cy="41148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729216" y="2971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Overspray en cabina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9729216" y="3657600"/>
            <a:ext cx="1737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pulverizada acumulada en rejillas, paredes y equipos. Se practica limpieza inicial y eliminación de la fuente.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10003536" y="55321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0003536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estaciones prácticas con maquetas reales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9164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7" name="Image 0" descr="icons/spra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6916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774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Aplicación: pistolas y atomizadores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Pistola y atomizador reales montados en banco, con aire comprimido.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Desmontaje, limpieza de boquilla y aguja, montaje, prueba del patrón de aplicación y estándar de limpieza al fin de turno.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1508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7360920" y="155448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6" name="Image 1" descr="icons/pum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916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04672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Circulación: filtros y bombas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286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Circuito de bomba con filtros, manómetros y puntos de fuga simulados.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presión diferencial, cambio de filtro, detección y etiquetado de fugas, lubricación de los puntos definidos.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241280" y="32461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41280" y="324612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 · 3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4864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7724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24" name="Shape 20"/>
          <p:cNvSpPr/>
          <p:nvPr/>
        </p:nvSpPr>
        <p:spPr>
          <a:xfrm>
            <a:off x="169164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5" name="Image 2" descr="icons/hos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29768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37744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Mangueras y conexiones de alta presión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7724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con mangueras, racores y conexiones en distintos estados de desgaste.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7724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de roces y desgaste, apriete con el torque correcto, despresurización y bloqueo seguro antes de intervenir.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7200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2 · 3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217920" y="39319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6446520" y="4114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400" dirty="0"/>
          </a:p>
        </p:txBody>
      </p:sp>
      <p:sp>
        <p:nvSpPr>
          <p:cNvPr id="33" name="Shape 28"/>
          <p:cNvSpPr/>
          <p:nvPr/>
        </p:nvSpPr>
        <p:spPr>
          <a:xfrm>
            <a:off x="7360920" y="4160520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4" name="Image 3" descr="icons/win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297680"/>
            <a:ext cx="274320" cy="27432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046720" y="41148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Cabina y overspray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446520" y="48920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Maqueta: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de cabina a escala con rejillas, paredes y plenum.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6446520" y="53949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Practican: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inicial, identificar de dónde viene el overspray, contener la fuente y definir la frecuencia de limpieza.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10241280" y="585216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241280" y="585216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 · 2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una sesión en el Dojo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470660" y="2446020"/>
            <a:ext cx="9220200" cy="0"/>
          </a:xfrm>
          <a:prstGeom prst="line">
            <a:avLst/>
          </a:prstGeom>
          <a:noFill/>
          <a:ln w="38100">
            <a:solidFill>
              <a:srgbClr val="D9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63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3490" y="2228850"/>
            <a:ext cx="434340" cy="4343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77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877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al llegar: mide la línea base de cada operario.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88036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hard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2228850"/>
            <a:ext cx="434340" cy="4343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13182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13182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43840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48412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por los tótems: qué es el AM y los pasos 1, 2 y 3.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724400" y="2011680"/>
            <a:ext cx="868680" cy="86868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8" name="Image 2" descr="icons/tools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570" y="2228850"/>
            <a:ext cx="434340" cy="4343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97586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9758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28244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 por estaciones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432816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juegos prácticos: clasificar objetos, limpiar la maqueta y el video de los 10 errores.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56844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4" name="Image 3" descr="icons/gamep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5610" y="2228850"/>
            <a:ext cx="434340" cy="43434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81990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1990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12648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final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17220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que al inicio, para medir lo aprendido.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41248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0" name="Image 4" descr="icons/lightbulb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9650" y="2228850"/>
            <a:ext cx="434340" cy="43434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866394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66394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26"/>
          <p:cNvSpPr txBox="1"/>
          <p:nvPr/>
        </p:nvSpPr>
        <p:spPr>
          <a:xfrm>
            <a:off x="797052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801624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define qué aplica mañana en su puesto.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10256520" y="2011680"/>
            <a:ext cx="868680" cy="86868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6" name="Image 5" descr="icons/medal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3690" y="2228850"/>
            <a:ext cx="434340" cy="43434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0507980" y="160020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22A5B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105079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9814560" y="306324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Certificación</a:t>
            </a:r>
            <a:endParaRPr lang="en-US" sz="1400" dirty="0"/>
          </a:p>
        </p:txBody>
      </p:sp>
      <p:sp>
        <p:nvSpPr>
          <p:cNvPr id="40" name="Text 32"/>
          <p:cNvSpPr txBox="1"/>
          <p:nvPr/>
        </p:nvSpPr>
        <p:spPr>
          <a:xfrm>
            <a:off x="9860280" y="3703320"/>
            <a:ext cx="1661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Diploma y registro en la matriz de habilidades.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548640" y="5074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82296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PROPUESTO</a:t>
            </a:r>
            <a:endParaRPr lang="en-US" sz="1000" dirty="0"/>
          </a:p>
        </p:txBody>
      </p:sp>
      <p:pic>
        <p:nvPicPr>
          <p:cNvPr id="43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3258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8 a 10 operarios</a:t>
            </a:r>
            <a:endParaRPr lang="en-US" sz="1200" dirty="0"/>
          </a:p>
        </p:txBody>
      </p:sp>
      <p:pic>
        <p:nvPicPr>
          <p:cNvPr id="45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5623560"/>
            <a:ext cx="365760" cy="36576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40690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turno por sesión</a:t>
            </a:r>
            <a:endParaRPr lang="en-US" sz="1200" dirty="0"/>
          </a:p>
        </p:txBody>
      </p:sp>
      <p:pic>
        <p:nvPicPr>
          <p:cNvPr id="47" name="Image 8" descr="icons/user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5623560"/>
            <a:ext cx="365760" cy="365760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68122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Guiado por multiplicadores del área</a:t>
            </a:r>
            <a:endParaRPr lang="en-US" sz="1200" dirty="0"/>
          </a:p>
        </p:txBody>
      </p:sp>
      <p:pic>
        <p:nvPicPr>
          <p:cNvPr id="49" name="Image 9" descr="icons/sync_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52560" y="5623560"/>
            <a:ext cx="365760" cy="365760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9555480" y="5577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Repetible para todos los turnos</a:t>
            </a:r>
            <a:endParaRPr lang="en-US" sz="1200" dirty="0"/>
          </a:p>
        </p:txBody>
      </p:sp>
      <p:sp>
        <p:nvSpPr>
          <p:cNvPr id="51" name="Text 39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Evaluación inicial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572000" cy="49834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6" name="Image 0" descr="icons/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7716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6002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antes de enseñar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llegar al Dojo, cada operario responde el AM Game en la PC, antes de cualquier explicación.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5468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digital con preguntas sobre limpieza, inspección, lubricación y apriete.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nota de aprobación: es la línea base de cada persona.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quiz se repite al final de la sesión para medir el avance.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registrado por operario, por turno y por línea.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58064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· INDIVIDUAL · 10 MIN</a:t>
            </a:r>
            <a:endParaRPr lang="en-US" sz="1000" dirty="0"/>
          </a:p>
        </p:txBody>
      </p:sp>
      <p:pic>
        <p:nvPicPr>
          <p:cNvPr id="12" name="Image 1" descr="assets/eval_p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40680" y="1325880"/>
            <a:ext cx="3246120" cy="385876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13" name="Image 2" descr="assets/eval_screen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69680" y="1325880"/>
            <a:ext cx="2770632" cy="15544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14" name="Shape 9"/>
          <p:cNvSpPr/>
          <p:nvPr/>
        </p:nvSpPr>
        <p:spPr>
          <a:xfrm>
            <a:off x="8869680" y="3063240"/>
            <a:ext cx="2770632" cy="2121408"/>
          </a:xfrm>
          <a:prstGeom prst="roundRect">
            <a:avLst>
              <a:gd name="adj" fmla="val 5172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9052560" y="3200400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Pantalla del AM Game: pregunta, respuestas y barra de avance por pasos. Misma herramienta que en Betim, con preguntas de Pintura.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40680" y="5257800"/>
            <a:ext cx="6199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inicial en la PC del Dojo. Fotos de referencia.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Bienvenida: recorrido por los tótems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room_totem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room_peopl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1325880"/>
            <a:ext cx="5440680" cy="405993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de Pintura con los 5 tótems de AM.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6199632" y="54406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multiplicador recorre los tótems con el grupo.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4864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9" name="Image 2" descr="icons/boo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925312"/>
            <a:ext cx="310896" cy="31089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el AM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278892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2" name="Image 3" descr="icons/list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59253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33756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0 a 4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02920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4" descr="icons/broom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9253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57784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726948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8" name="Image 5" descr="icons/search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59253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81812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</a:t>
            </a:r>
            <a:endParaRPr lang="en-US" sz="1150" dirty="0"/>
          </a:p>
        </p:txBody>
      </p:sp>
      <p:sp>
        <p:nvSpPr>
          <p:cNvPr id="20" name="Shape 12"/>
          <p:cNvSpPr/>
          <p:nvPr/>
        </p:nvSpPr>
        <p:spPr>
          <a:xfrm>
            <a:off x="9509760" y="5806440"/>
            <a:ext cx="2103120" cy="548640"/>
          </a:xfrm>
          <a:prstGeom prst="roundRect">
            <a:avLst>
              <a:gd name="adj" fmla="val 2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21" name="Image 6" descr="icons/clipboard_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5925312"/>
            <a:ext cx="310896" cy="310896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058400" y="58064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</a:t>
            </a:r>
            <a:endParaRPr lang="en-US" sz="1150" dirty="0"/>
          </a:p>
        </p:txBody>
      </p:sp>
      <p:sp>
        <p:nvSpPr>
          <p:cNvPr id="23" name="Text 14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Rotación por estaciones: 3 juegos prácticos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assets/game1_tool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08760"/>
            <a:ext cx="3163824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7" name="Image 1" descr="icons/tools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419481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1 · Acomodar y clasificar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Separar, ordenar e identificar las herramientas y consumibles del puesto: lo que sirve, lo que sobra y lo que falta.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 · PASO 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315968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assets/game2_maquet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98848" y="1508760"/>
            <a:ext cx="3163824" cy="2377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498848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4" name="Image 3" descr="icons/broom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4578" y="4194810"/>
            <a:ext cx="251460" cy="2514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38928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2 · Limpieza de la maqueta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4498848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inicial sobre la maqueta real: limpiar con las manos, detectar anomalías y etiquetarlas.</a:t>
            </a:r>
            <a:endParaRPr lang="en-US" sz="1150" dirty="0"/>
          </a:p>
        </p:txBody>
      </p:sp>
      <p:sp>
        <p:nvSpPr>
          <p:cNvPr id="17" name="Text 11"/>
          <p:cNvSpPr txBox="1"/>
          <p:nvPr/>
        </p:nvSpPr>
        <p:spPr>
          <a:xfrm>
            <a:off x="4498848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MANOS EN LA MASA · PASO 1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8083296" y="1325880"/>
            <a:ext cx="3529584" cy="4983480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4" descr="assets/game3_vide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266176" y="1508760"/>
            <a:ext cx="3163824" cy="237744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8266176" y="406908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1" name="Image 5" descr="icons/eye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906" y="4194810"/>
            <a:ext cx="251460" cy="25146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906256" y="4023360"/>
            <a:ext cx="2523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 3 · Video de los 10 errores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8266176" y="4709160"/>
            <a:ext cx="31638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un video del ciclo de limpieza e identificar las 10 cosas que se hicieron mal.</a:t>
            </a:r>
            <a:endParaRPr lang="en-US" sz="1150" dirty="0"/>
          </a:p>
        </p:txBody>
      </p:sp>
      <p:sp>
        <p:nvSpPr>
          <p:cNvPr id="24" name="Text 16"/>
          <p:cNvSpPr txBox="1"/>
          <p:nvPr/>
        </p:nvSpPr>
        <p:spPr>
          <a:xfrm>
            <a:off x="8266176" y="585216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· PASOS 1 A 3</a:t>
            </a:r>
            <a:endParaRPr lang="en-US" sz="900" dirty="0"/>
          </a:p>
        </p:txBody>
      </p:sp>
      <p:sp>
        <p:nvSpPr>
          <p:cNvPr id="25" name="Text 1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 6 · Evaluación final y certificación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pic>
        <p:nvPicPr>
          <p:cNvPr id="4" name="Image 0" descr="assets/cer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25880"/>
            <a:ext cx="3017520" cy="470001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assets/eval_p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25880"/>
            <a:ext cx="3017520" cy="35935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3749040" y="5074920"/>
            <a:ext cx="3017520" cy="950976"/>
          </a:xfrm>
          <a:prstGeom prst="roundRect">
            <a:avLst>
              <a:gd name="adj" fmla="val 11538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31920" y="5120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quiz del inicio: la diferencia de puntaje muestra lo aprendido.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040880" y="146304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9" name="Image 2" descr="icons/gamepad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1588770"/>
            <a:ext cx="251460" cy="2514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0" y="144475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Evaluación final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772400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repite el AM Game y se compara con la línea base: así verificamos que el operario aprendió.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7040880" y="29718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3" name="Image 3" descr="icons/lightbulb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6610" y="3097530"/>
            <a:ext cx="251460" cy="2514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772400" y="295351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Compromiso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7772400" y="324612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operario escribe qué va a aplicar mañana en su puesto y lo comparte con el grupo.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040880" y="448056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17" name="Image 4" descr="icons/medal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6610" y="4606290"/>
            <a:ext cx="251460" cy="2514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772400" y="446227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Certificación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7772400" y="475488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del certificado de AM y registro en la matriz de habilidades de la unidad.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implementación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97480" cy="731520"/>
          </a:xfrm>
          <a:prstGeom prst="homePlat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514600"/>
            <a:ext cx="502920" cy="50292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8" name="Image 0" descr="icons/m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26403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los problemas prioritarios con Mantenimiento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46704" y="1325880"/>
            <a:ext cx="2697480" cy="731520"/>
          </a:xfrm>
          <a:prstGeom prst="chevron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12464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346704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75304" y="2514600"/>
            <a:ext cx="502920" cy="502920"/>
          </a:xfrm>
          <a:prstGeom prst="ellipse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15" name="Image 1" descr="icons/cog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34" y="264033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5384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Construcción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75304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 con componentes reales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44768" y="1325880"/>
            <a:ext cx="2697480" cy="731520"/>
          </a:xfrm>
          <a:prstGeom prst="chevron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10528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44768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73368" y="2514600"/>
            <a:ext cx="502920" cy="502920"/>
          </a:xfrm>
          <a:prstGeom prst="ellipse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pic>
        <p:nvPicPr>
          <p:cNvPr id="22" name="Image 2" descr="icons/rock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098" y="264033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013448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373368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grupo de operarios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942832" y="1325880"/>
            <a:ext cx="2697480" cy="731520"/>
          </a:xfrm>
          <a:prstGeom prst="chevron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308592" y="13258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942832" y="2286000"/>
            <a:ext cx="269748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171432" y="2514600"/>
            <a:ext cx="502920" cy="5029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29" name="Image 3" descr="icons/char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162" y="264033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811512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171432" y="315468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turnos y líneas de Pintura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de indicadores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NECESITAMOS PARA ARRANCAR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48640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4" name="Image 4" descr="icons/building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411480" cy="4114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80160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Espacio físico dentro de la unidad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3346704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37" name="Image 5" descr="icons/tools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9584" y="5669280"/>
            <a:ext cx="411480" cy="4114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078224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 reales para las maquetas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6144768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0" name="Image 6" descr="icons/users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5669280"/>
            <a:ext cx="411480" cy="4114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876288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Multiplicadores del área</a:t>
            </a:r>
            <a:endParaRPr lang="en-US" sz="1150" dirty="0"/>
          </a:p>
        </p:txBody>
      </p:sp>
      <p:sp>
        <p:nvSpPr>
          <p:cNvPr id="42" name="Shape 33"/>
          <p:cNvSpPr/>
          <p:nvPr/>
        </p:nvSpPr>
        <p:spPr>
          <a:xfrm>
            <a:off x="8942832" y="544068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3F4FB"/>
          </a:solidFill>
          <a:ln w="12700">
            <a:solidFill>
              <a:srgbClr val="E3F4FB"/>
            </a:solidFill>
            <a:prstDash val="solid"/>
          </a:ln>
        </p:spPr>
      </p:sp>
      <p:pic>
        <p:nvPicPr>
          <p:cNvPr id="43" name="Image 7" descr="icons/clo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5712" y="5669280"/>
            <a:ext cx="411480" cy="41148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674352" y="54406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Liberación de operarios por turno</a:t>
            </a:r>
            <a:endParaRPr lang="en-US" sz="1150" dirty="0"/>
          </a:p>
        </p:txBody>
      </p:sp>
      <p:sp>
        <p:nvSpPr>
          <p:cNvPr id="45" name="Text 35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de la aprobación al despliegue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695174" y="1783080"/>
            <a:ext cx="682812" cy="4197096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12294" y="5998464"/>
            <a:ext cx="10485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Receso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977640" y="1399032"/>
            <a:ext cx="644878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77640" y="1399032"/>
            <a:ext cx="6448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77640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2518" y="1399032"/>
            <a:ext cx="117595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2518" y="1399032"/>
            <a:ext cx="1175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22518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98473" y="1399032"/>
            <a:ext cx="1138021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98473" y="1399032"/>
            <a:ext cx="11380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98473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36494" y="1399032"/>
            <a:ext cx="117595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36494" y="1399032"/>
            <a:ext cx="1175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36494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12448" y="1399032"/>
            <a:ext cx="117595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12448" y="1399032"/>
            <a:ext cx="1175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 2027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12448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88403" y="1399032"/>
            <a:ext cx="1062153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88403" y="1399032"/>
            <a:ext cx="106215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288403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50555" y="1399032"/>
            <a:ext cx="1175955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50555" y="1399032"/>
            <a:ext cx="1175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50555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526510" y="1399032"/>
            <a:ext cx="113802" cy="329184"/>
          </a:xfrm>
          <a:prstGeom prst="rect">
            <a:avLst/>
          </a:prstGeom>
          <a:solidFill>
            <a:srgbClr val="F3F5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526510" y="1783080"/>
            <a:ext cx="0" cy="4197096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77640" y="1143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112448" y="1143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1783080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178308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Diseño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977640" y="1847088"/>
            <a:ext cx="948350" cy="118872"/>
          </a:xfrm>
          <a:prstGeom prst="rect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063240" y="178308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09/10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68680" y="202996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espacio físico y el layout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977640" y="2075688"/>
            <a:ext cx="417274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63240" y="202996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14/09 – 25/09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868680" y="2276856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problemas con Mantenimiento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243178" y="2322576"/>
            <a:ext cx="417274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063240" y="227685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21/09 – 02/10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68680" y="252374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Formar a los multiplicadores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08716" y="2569464"/>
            <a:ext cx="682812" cy="155448"/>
          </a:xfrm>
          <a:prstGeom prst="roundRect">
            <a:avLst>
              <a:gd name="adj" fmla="val 29412"/>
            </a:avLst>
          </a:prstGeom>
          <a:solidFill>
            <a:srgbClr val="022A5B">
              <a:alpha val="55000"/>
            </a:srgbClr>
          </a:solidFill>
          <a:ln w="9525">
            <a:solidFill>
              <a:srgbClr val="022A5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063240" y="252374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28/09 – 16/10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48640" y="2770632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0080" y="2770632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Construcción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039793" y="2834640"/>
            <a:ext cx="1479427" cy="118872"/>
          </a:xfrm>
          <a:prstGeom prst="rect">
            <a:avLst/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63240" y="277063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12/10 – 20/11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868680" y="301752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Fabricar las 4 maquetas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039793" y="3063240"/>
            <a:ext cx="1213889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063240" y="301752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12/10 – 13/11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26440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Imprimir tótems y señalización del sector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039793" y="3310128"/>
            <a:ext cx="682812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063240" y="326440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12/10 – 30/10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868680" y="3511296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contenido y estándares LLA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305331" y="3557016"/>
            <a:ext cx="948350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063240" y="351129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19/10 – 13/11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375818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el AM Game a Pintura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70869" y="3803904"/>
            <a:ext cx="948350" cy="155448"/>
          </a:xfrm>
          <a:prstGeom prst="roundRect">
            <a:avLst>
              <a:gd name="adj" fmla="val 29412"/>
            </a:avLst>
          </a:prstGeom>
          <a:solidFill>
            <a:srgbClr val="0B3A73">
              <a:alpha val="55000"/>
            </a:srgbClr>
          </a:solidFill>
          <a:ln w="9525">
            <a:solidFill>
              <a:srgbClr val="0B3A73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063240" y="375818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26/10 – 20/11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48640" y="4005072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0080" y="4005072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Piloto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633021" y="4069080"/>
            <a:ext cx="948350" cy="118872"/>
          </a:xfrm>
          <a:prstGeom prst="rect">
            <a:avLst/>
          </a:prstGeom>
          <a:solidFill>
            <a:srgbClr val="079CCE"/>
          </a:solidFill>
          <a:ln w="12700">
            <a:solidFill>
              <a:srgbClr val="079CCE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063240" y="400507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18/12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68680" y="425196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piloto con el primer grupo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633021" y="4297680"/>
            <a:ext cx="417274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63240" y="425196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23/11 – 04/12</a:t>
            </a:r>
            <a:endParaRPr lang="en-US" sz="750" dirty="0"/>
          </a:p>
        </p:txBody>
      </p:sp>
      <p:sp>
        <p:nvSpPr>
          <p:cNvPr id="67" name="Text 65"/>
          <p:cNvSpPr txBox="1"/>
          <p:nvPr/>
        </p:nvSpPr>
        <p:spPr>
          <a:xfrm>
            <a:off x="868680" y="449884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tiempos y dificultad de los juegos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898560" y="4544568"/>
            <a:ext cx="417274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063240" y="449884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30/11 – 11/12</a:t>
            </a:r>
            <a:endParaRPr lang="en-US" sz="750" dirty="0"/>
          </a:p>
        </p:txBody>
      </p:sp>
      <p:sp>
        <p:nvSpPr>
          <p:cNvPr id="70" name="Text 68"/>
          <p:cNvSpPr txBox="1"/>
          <p:nvPr/>
        </p:nvSpPr>
        <p:spPr>
          <a:xfrm>
            <a:off x="868680" y="4745736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resultados iniciales (línea base)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164098" y="4791456"/>
            <a:ext cx="417274" cy="155448"/>
          </a:xfrm>
          <a:prstGeom prst="roundRect">
            <a:avLst>
              <a:gd name="adj" fmla="val 29412"/>
            </a:avLst>
          </a:prstGeom>
          <a:solidFill>
            <a:srgbClr val="079CCE">
              <a:alpha val="55000"/>
            </a:srgbClr>
          </a:solidFill>
          <a:ln w="9525">
            <a:solidFill>
              <a:srgbClr val="079CC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063240" y="474573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07/12 – 18/12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548640" y="4992624"/>
            <a:ext cx="11091672" cy="246888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40080" y="4992624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Despliegue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8491788" y="5056632"/>
            <a:ext cx="3072656" cy="118872"/>
          </a:xfrm>
          <a:prstGeom prst="rect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3063240" y="499262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11/01 – 02/04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68680" y="5239512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para todos los turnos y líneas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8491788" y="5285232"/>
            <a:ext cx="2807117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063240" y="523951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11/01 – 26/03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68680" y="5486400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y reconocimiento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022865" y="5532120"/>
            <a:ext cx="2541579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063240" y="548640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25/01 – 02/04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68680" y="5733288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 mensual de indicadores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288403" y="5779008"/>
            <a:ext cx="2276041" cy="155448"/>
          </a:xfrm>
          <a:prstGeom prst="roundRect">
            <a:avLst>
              <a:gd name="adj" fmla="val 29412"/>
            </a:avLst>
          </a:prstGeom>
          <a:solidFill>
            <a:srgbClr val="FFA403">
              <a:alpha val="55000"/>
            </a:srgbClr>
          </a:solidFill>
          <a:ln w="9525">
            <a:solidFill>
              <a:srgbClr val="FFA403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3063240" y="573328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01/02 – 02/04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4825406" y="1805940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418635" y="2793492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480788" y="4027932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463860" y="5015484"/>
            <a:ext cx="201168" cy="201168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40080" y="6309360"/>
            <a:ext cx="164592" cy="164592"/>
          </a:xfrm>
          <a:prstGeom prst="diamond">
            <a:avLst/>
          </a:prstGeom>
          <a:solidFill>
            <a:srgbClr val="E4231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914400" y="6272784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Hitos: 09/10 layout y presupuesto aprobados · 20/11 maquetas y tótems listos · 18/12 go/no-go del despliegue · 02/04 100% de los turnos certificados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640080" y="6547104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Duración total: 29 semanas (14/09/2026 a 02/04/2027), con receso de fin de año del 21/12 al 08/01. Fechas propuestas: se ajustan con la fecha real de aprobación.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sabremos que funciona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778240" y="4572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STELLANTIS  ·  UNIDAD PINTURA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206240" cy="4983480"/>
          </a:xfrm>
          <a:prstGeom prst="roundRect">
            <a:avLst>
              <a:gd name="adj" fmla="val 2609"/>
            </a:avLst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rgbClr val="FFA403"/>
          </a:solidFill>
          <a:ln w="12700">
            <a:solidFill>
              <a:srgbClr val="FFA403"/>
            </a:solidFill>
            <a:prstDash val="solid"/>
          </a:ln>
        </p:spPr>
      </p:sp>
      <p:pic>
        <p:nvPicPr>
          <p:cNvPr id="6" name="Image 0" descr="icons/target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606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Producción resuelva lo básico y Mantenimiento se dedique a lo complejo.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463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0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indicadores se miden antes del piloto (línea base) y cada mes después del despliegue.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0" y="132588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212080" y="149961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2" name="Image 1" descr="icons/gr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6367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43600" y="14356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Operarios certificados en los pasos 1 a 3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943600" y="175564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Porcentaje sobre el total de la unidad, por turno y por línea.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212080" y="250545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17" name="Image 2" descr="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6426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943600" y="244144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entre evaluación inicial y final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943600" y="276148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de puntaje en el AM Game antes y después de la sesión, y resultado de los 3 juegos.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0" y="333756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212080" y="351129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2" name="Image 3" descr="icons/t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64845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943600" y="344728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Anomalías detectadas por operarios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5943600" y="376732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Etiquetas abiertas y cerradas por Producción, no por Mantenimiento.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029200" y="434340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5212080" y="451713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27" name="Image 4" descr="icons/wre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65429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943600" y="44531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Intervenciones básicas resueltas por Producción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5943600" y="477316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Limpiezas de pistola, cambios de filtro y aprietes sin llamar a Mantenimiento.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029200" y="5349240"/>
            <a:ext cx="6611112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5212080" y="5522976"/>
            <a:ext cx="548640" cy="548640"/>
          </a:xfrm>
          <a:prstGeom prst="ellipse">
            <a:avLst/>
          </a:prstGeom>
          <a:solidFill>
            <a:srgbClr val="022A5B"/>
          </a:solidFill>
          <a:ln w="12700">
            <a:solidFill>
              <a:srgbClr val="022A5B"/>
            </a:solidFill>
            <a:prstDash val="solid"/>
          </a:ln>
        </p:spPr>
      </p:sp>
      <p:pic>
        <p:nvPicPr>
          <p:cNvPr id="32" name="Image 5" descr="icons/bol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566013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43600" y="54589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2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Paradas por causas básicas</a:t>
            </a:r>
            <a:endParaRPr lang="en-US" sz="1350" dirty="0"/>
          </a:p>
        </p:txBody>
      </p:sp>
      <p:sp>
        <p:nvSpPr>
          <p:cNvPr id="34" name="Text 26"/>
          <p:cNvSpPr txBox="1"/>
          <p:nvPr/>
        </p:nvSpPr>
        <p:spPr>
          <a:xfrm>
            <a:off x="5943600" y="5779008"/>
            <a:ext cx="5532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Minutos perdidos por pistola tapada, filtro saturado o fuga, antes y después del Dojo.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11155680" y="635508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dojo_betim_entrance.jpg">    </p:cNvPr>
          <p:cNvPicPr>
            <a:picLocks noChangeAspect="1"/>
          </p:cNvPicPr>
          <p:nvPr/>
        </p:nvPicPr>
        <p:blipFill>
          <a:blip r:embed="rId2">
            <a:alphaModFix amt="10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463040"/>
            <a:ext cx="7772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aprendemos, practicamos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crecemos juntos.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79C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Dojo de Mantenimiento Autónomo · Unidad Pintura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31520" y="448056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B3A73"/>
          </a:solidFill>
          <a:ln w="12700">
            <a:solidFill>
              <a:srgbClr val="0B3A73"/>
            </a:solidFill>
            <a:prstDash val="solid"/>
          </a:ln>
        </p:spPr>
      </p:sp>
      <p:pic>
        <p:nvPicPr>
          <p:cNvPr id="6" name="Image 1" descr="icons/rocke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006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44805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4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espacio y arrancar la Fase 1 · Diseño, junto con Mantenimiento y los multiplicadores del área.</a:t>
            </a:r>
            <a:endParaRPr lang="en-US" sz="1400" dirty="0"/>
          </a:p>
        </p:txBody>
      </p:sp>
      <p:pic>
        <p:nvPicPr>
          <p:cNvPr id="8" name="Image 2" descr="assets/masc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017520"/>
            <a:ext cx="2011680" cy="3017520"/>
          </a:xfrm>
          <a:prstGeom prst="rect">
            <a:avLst/>
          </a:prstGeom>
        </p:spPr>
      </p:pic>
      <p:pic>
        <p:nvPicPr>
          <p:cNvPr id="9" name="Image 3" descr="assets/am_logo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806440"/>
            <a:ext cx="868680" cy="8046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Dojo de Mantenimiento Autónomo – Unidad Pintura</dc:title>
  <dc:subject>PptxGenJS Presentation</dc:subject>
  <dc:creator>Stellantis – Unidad Pintura</dc:creator>
  <cp:lastModifiedBy>Stellantis – Unidad Pintura</cp:lastModifiedBy>
  <cp:revision>1</cp:revision>
  <dcterms:created xsi:type="dcterms:W3CDTF">2026-09-04T15:12:44Z</dcterms:created>
  <dcterms:modified xsi:type="dcterms:W3CDTF">2026-09-04T15:12:44Z</dcterms:modified>
</cp:coreProperties>
</file>