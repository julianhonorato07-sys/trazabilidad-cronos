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para crear el Dojo de Mantenimiento Autónomo de la Unidad Pintura. Un espacio físico donde los operarios aprenden haciendo. Es el mismo modelo que ya funcionó en Betim Powertrain.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objetivo es que los operarios dejen de depender de Mantenimiento para cosas básicas y se vuelvan dueños de su propio puesto. Mantenimiento se libera para las fallas complejas.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Dojo desarrolla personas con aprendizaje práctico, accesible y estructurado. Aquí aprendemos, practicamos y crecemos juntos.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Dojo se enseñan los 3 primeros pasos del Mantenimiento Autónomo: limpieza inicial, eliminación de fuentes de suciedad y creación de estándares de limpieza, lubricación y apriete.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problemas reales de Pintura: pistolas tapadas, filtros saturados, bombas con fugas, mangueras de alta presión y overspray en cabina. Cada uno se conecta con los pasos del AM que lo resuelven.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estaciones prácticas, cada una con una maqueta real: aplicación, circulación de pintura, mangueras de alta presión y cabina. Los operarios rotan por las cuatro.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una sesión en seis pasos: evaluación inicial, bienvenida con los tótems, rotación por estaciones con tres juegos prácticos, evaluación final, compromiso y certificación. El formato de grupos y duración es una propuesta a ajustar en el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 de la sesión: evaluación inicial con el AM Game en la PC. No aprueba ni desaprueba, sirve como línea base para comparar con la evaluación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2: bienvenida. El multiplicador recorre los cinco tótems con el grupo: qué es el AM, la visión general de los pasos 0 a 4 y el detalle de los pasos 1, 2 y 3, en lenguaje simple y con ejemplos de la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3: rotación por estaciones con tres juegos prácticos. Juego 1, acomodar y clasificar los objetos. Juego 2, limpieza de la maqueta. Juego 3, video donde el operario identifica diez cosas que se hicieron mal en el ciclo de limpieza.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Pasos 4 a 6: evaluación final con el mismo AM Game para verificar lo aprendido, compromiso personal de aplicación en el puesto y entrega del certificado con registro en la matriz de habilidades.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fases: diseño, construcción, piloto y despliegue. Para arrancar necesitamos el espacio, componentes reales, multiplicadores y tiempo de los operarios.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Cronograma con avance real al 18 de septiembre. Fase 1 de diseño cerrada salvo las evaluaciones teóricas al 70%. Fase 2 en curso: falta completar la recopilación de herramientas, la identificación de elementos y el prototipo de stands y pasaporte. Piloto en Overview del 7 al 18 de octubre, implementación del 15 al 29 de octubre, validación con Gerencia, Calidad y Producción el 22 y seguimiento hasta el 6 de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Cronograma propuesto de 15 semanas, de la semana 38 a la 52 de 2026: diseño en septiembre, construcción hasta la semana 45, piloto de dos semanas y despliegue a todos los turnos hasta el 23 de diciembre.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Indicadores propuestos: operarios certificados, participación en los juegos, anomalías detectadas por operarios, intervenciones básicas resueltas por Producción y paradas por causas básicas.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Dojo es un espacio para aprender, practicar y crecer juntos. El próximo paso es aprobar el espacio y arrancar la fase de diseño.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image" Target="../media/image-10-5.jp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jp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0720" cy="6858000"/>
          </a:xfrm>
          <a:prstGeom prst="rect">
            <a:avLst/>
          </a:prstGeom>
          <a:solidFill>
            <a:srgbClr val="03142F">
              <a:alpha val="65000"/>
            </a:srgbClr>
          </a:solidFill>
          <a:ln w="12700">
            <a:solidFill>
              <a:srgbClr val="03142F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 ·  UNIDAD PINTURA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55448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3703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haciendo: operarios dueños de su propio puesto.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</a:t>
            </a:r>
            <a:pPr indent="0" marL="0">
              <a:buNone/>
            </a:pPr>
            <a:r>
              <a:rPr lang="en-US" sz="13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Unidad Pintura  ·  Manutenção Autônoma</a:t>
            </a:r>
            <a:endParaRPr lang="en-US" sz="1300" dirty="0"/>
          </a:p>
        </p:txBody>
      </p:sp>
      <p:pic>
        <p:nvPicPr>
          <p:cNvPr id="8" name="Image 1" descr="assets/am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5394960"/>
            <a:ext cx="1143000" cy="1060704"/>
          </a:xfrm>
          <a:prstGeom prst="rect">
            <a:avLst/>
          </a:prstGeom>
        </p:spPr>
      </p:pic>
      <p:pic>
        <p:nvPicPr>
          <p:cNvPr id="9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4434840"/>
            <a:ext cx="1371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un Dojo en Pintura?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Hoy, muchas paradas cortas dependen de Mantenimiento para tareas que el operario puede resolver.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66360" cy="4572000"/>
          </a:xfrm>
          <a:prstGeom prst="roundRect">
            <a:avLst>
              <a:gd name="adj" fmla="val 24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excla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Dependencia de Mantenimiento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limpiar una pistola, cambiar un filtro o apretar una conexión.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8680" y="34290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c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10" y="355473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cortas y repetitivas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pistolas tapadas, filtros saturados y fugas en bombas.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2" descr="icons/ey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446913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tarde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ya generaron un defecto de pintura o una parada.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68680" y="52578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53835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 en pocas personas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6002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estándares visibles en el puesto de trabajo.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532120" y="3657600"/>
            <a:ext cx="685800" cy="68580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4" name="Image 4" descr="icons/arrow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3570" y="3829050"/>
            <a:ext cx="342900" cy="3429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92240" y="1691640"/>
            <a:ext cx="5148072" cy="4572000"/>
          </a:xfrm>
          <a:prstGeom prst="roundRect">
            <a:avLst>
              <a:gd name="adj" fmla="val 2400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8122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DOJO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812280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5" descr="icons/user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8010" y="2640330"/>
            <a:ext cx="251460" cy="25146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5438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operario es dueño de su puesto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75438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limpia, inspecciona y resuelve lo básico por sí mismo.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812280" y="34290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2" name="Image 6" descr="icons/clipboard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8010" y="3554730"/>
            <a:ext cx="251460" cy="2514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438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Limpieza, lubricación y apriete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75438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rutina estandarizada en cada turno.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6812280" y="43434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6" name="Image 7" descr="icons/search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010" y="4469130"/>
            <a:ext cx="251460" cy="25146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5438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temprano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75438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etiquetadas y resueltas antes de convertirse en falla.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6812280" y="5257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40" name="Image 8" descr="icons/tools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8010" y="5383530"/>
            <a:ext cx="251460" cy="25146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75438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 enfocado en lo complejo</a:t>
            </a:r>
            <a:endParaRPr lang="en-US" sz="1400" dirty="0"/>
          </a:p>
        </p:txBody>
      </p:sp>
      <p:sp>
        <p:nvSpPr>
          <p:cNvPr id="42" name="Text 31"/>
          <p:cNvSpPr txBox="1"/>
          <p:nvPr/>
        </p:nvSpPr>
        <p:spPr>
          <a:xfrm>
            <a:off x="75438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fallas mayores, mejoras y confiabilidad.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Dojo de AM?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dojo_betim_w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846320" cy="272491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AM de Betim Powertrain, referencia del modelo.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4526280"/>
            <a:ext cx="48463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709160"/>
            <a:ext cx="4297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espacio físico de entrenamiento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la unidad, donde los operarios de producción aprenden haciendo, con las manos en la masa, sobre maquetas reales de los equipos de Pintura.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85216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12648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0" name="Image 1" descr="icons/targe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070" y="170307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2648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conocimiento en habilidades: el operario hace, no solo escucha.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86968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5" name="Image 2" descr="icons/boo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590" y="170307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lo hacemos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 simple y práctico, estándares accesibles y aprendizaje continuo.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85216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12648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cha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5070" y="430911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12648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12648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 viva de patrones y buenas prácticas que se adapta a los desafíos de la planta.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86968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4400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4" descr="icons/handshak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590" y="4309110"/>
            <a:ext cx="297180" cy="2971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4400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 colaborativa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14400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Líderes de área y multiplicadores definen prioridades y guían el desarrollo del equipo.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3 primeros pasos del 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van a aprender los operarios en el Dojo, paso a paso.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611880" cy="86868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697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9" name="Image 0" descr="icons/broo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346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Limpiar es inspeccionar.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profunda del equipo, con las manos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y etiquetar anomalías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Restablecer las condiciones básicas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2296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14" name="Image 1" descr="icons/che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5175504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8016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limpio y anomalías etiquetadas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297680" y="1325880"/>
            <a:ext cx="3611880" cy="86868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29768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0" y="2697480"/>
            <a:ext cx="548640" cy="54864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0" name="Image 2" descr="icons/searc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834640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 fuentes de suciedad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Atacar la causa, no el síntoma.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de dónde viene la suciedad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Contener o eliminar la fuente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el acceso para limpiar e inspeccionar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25" name="Image 3" descr="icons/check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02920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de suciedad eliminadas o contenidas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8046720" y="1325880"/>
            <a:ext cx="3611880" cy="86868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50392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2200" dirty="0"/>
          </a:p>
        </p:txBody>
      </p:sp>
      <p:sp>
        <p:nvSpPr>
          <p:cNvPr id="29" name="Shape 23"/>
          <p:cNvSpPr/>
          <p:nvPr/>
        </p:nvSpPr>
        <p:spPr>
          <a:xfrm>
            <a:off x="804672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321040" y="269748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1" name="Image 4" descr="icons/clipboard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2834640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00684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Estándares de limpieza, lubricación y apriete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832104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la rutina no dependa de la memoria.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832104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qué, cómo, cuándo y quién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visual en el puesto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en cada turno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32104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36" name="Image 5" descr="icons/check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5175504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7824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LLA visible en el puesto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548640" y="58978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9" name="Image 6" descr="icons/target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007608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88720" y="58978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Paso 0.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 de KPIs y priorización de máquinas, definidas junto con Mantenimiento antes de entrar al Dojo.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Aplicado a problemas reales de Pintura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teoría abstracta: cada paso se practica sobre lo que el operario ve todos los días en su línea.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8720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0" descr="icons/spray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22174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Pistolas tapadas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Boquillas y agujas obstruidas por pintura seca. Se practica desmontaje, limpieza y verificación del patrón de aplicación.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05840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98064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38144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1" descr="icons/filter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884" y="22174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980944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 saturados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980944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Caída de presión y defectos por filtros colmatados. Se practica inspección, cambio y registro de la frecuencia.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255264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255264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47488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687568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2" descr="icons/pump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308" y="221742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230368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Bombas con fugas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5230368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Fugas en sellos y conexiones que ensucian y desperdician pintura. Se practica detección, etiquetado y apriete correcto.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504688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504688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296912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936992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3" descr="icons/hose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2732" y="221742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479792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de alta presión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7479792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Desgaste, roces y conexiones flojas con riesgo para la seguridad. Se practica inspección, rutas y apriete seguro.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754112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54112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9546336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10186416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5" name="Image 4" descr="icons/win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2156" y="2217420"/>
            <a:ext cx="411480" cy="41148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729216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Overspray en cabina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9729216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Pintura pulverizada acumulada en rejillas, paredes y equipos. Se practica limpieza inicial y eliminación de la fuente.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10003536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0003536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estaciones prácticas con maquetas reales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9164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7" name="Image 0" descr="icons/spra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6916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774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Aplicación: pistolas y atomizadores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 y atomizador reales montados en banco, con aire comprimido.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Desmontaje, limpieza de boquilla y aguja, montaje, prueba del patrón de aplicación y estándar de limpieza al fin de turno.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736092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1" descr="icons/pum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6916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04672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Circulación: filtros y bombas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Circuito de bomba con filtros, manómetros y puntos de fuga simulados.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presión diferencial, cambio de filtro, detección y etiquetado de fugas, lubricación de los puntos definidos.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24128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24128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 · 3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4864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77724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24" name="Shape 20"/>
          <p:cNvSpPr/>
          <p:nvPr/>
        </p:nvSpPr>
        <p:spPr>
          <a:xfrm>
            <a:off x="169164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2" descr="icons/hos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297680"/>
            <a:ext cx="274320" cy="27432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37744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y conexiones de alta presión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77724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con mangueras, racores y conexiones en distintos estados de desgaste.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7724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 de roces y desgaste, apriete con el torque correcto, despresurización y bloqueo seguro antes de intervenir.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7200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21792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644652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00" dirty="0"/>
          </a:p>
        </p:txBody>
      </p:sp>
      <p:sp>
        <p:nvSpPr>
          <p:cNvPr id="33" name="Shape 28"/>
          <p:cNvSpPr/>
          <p:nvPr/>
        </p:nvSpPr>
        <p:spPr>
          <a:xfrm>
            <a:off x="736092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4" name="Image 3" descr="icons/win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297680"/>
            <a:ext cx="274320" cy="27432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804672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Cabina y overspray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44652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Sección de cabina a escala con rejillas, paredes y plenum.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644652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inicial, identificar de dónde viene el overspray, contener la fuente y definir la frecuencia de limpieza.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1024128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24128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una sesión en el Dojo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470660" y="2446020"/>
            <a:ext cx="9220200" cy="0"/>
          </a:xfrm>
          <a:prstGeom prst="line">
            <a:avLst/>
          </a:prstGeom>
          <a:noFill/>
          <a:ln w="38100">
            <a:solidFill>
              <a:srgbClr val="D9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32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3490" y="2228850"/>
            <a:ext cx="434340" cy="4343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877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877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inicial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digital al llegar: mide la línea base de cada operario.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88036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hardha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530" y="2228850"/>
            <a:ext cx="434340" cy="4343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13182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13182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43840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Bienvenida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48412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 por los tótems: qué es el AM y los pasos 1, 2 y 3.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724400" y="2011680"/>
            <a:ext cx="868680" cy="86868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8" name="Image 2" descr="icons/tools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570" y="2228850"/>
            <a:ext cx="434340" cy="4343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97586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97586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428244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 por estaciones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432816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juegos prácticos: clasificar objetos, limpiar la maqueta y el video de los 10 errores.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56844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4" name="Image 3" descr="icons/gamepa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5610" y="2228850"/>
            <a:ext cx="434340" cy="43434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81990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199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12648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final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617220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quiz que al inicio, para medir lo aprendido.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41248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0" name="Image 4" descr="icons/lightbulb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9650" y="2228850"/>
            <a:ext cx="434340" cy="43434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866394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66394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797052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801624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define qué aplica mañana en su puesto.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1025652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6" name="Image 5" descr="icons/medal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3690" y="2228850"/>
            <a:ext cx="434340" cy="43434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105079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105079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981456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Certificación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986028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Diploma y registro en la matriz de habilidades.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82296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PROPUESTO</a:t>
            </a:r>
            <a:endParaRPr lang="en-US" sz="1000" dirty="0"/>
          </a:p>
        </p:txBody>
      </p:sp>
      <p:pic>
        <p:nvPicPr>
          <p:cNvPr id="43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623560"/>
            <a:ext cx="365760" cy="36576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3258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de 8 a 10 operarios</a:t>
            </a:r>
            <a:endParaRPr lang="en-US" sz="1200" dirty="0"/>
          </a:p>
        </p:txBody>
      </p:sp>
      <p:pic>
        <p:nvPicPr>
          <p:cNvPr id="45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6160" y="5623560"/>
            <a:ext cx="365760" cy="365760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40690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turno por sesión</a:t>
            </a:r>
            <a:endParaRPr lang="en-US" sz="1200" dirty="0"/>
          </a:p>
        </p:txBody>
      </p:sp>
      <p:pic>
        <p:nvPicPr>
          <p:cNvPr id="47" name="Image 8" descr="icons/user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5623560"/>
            <a:ext cx="365760" cy="36576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68122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Guiado por multiplicadores del área</a:t>
            </a:r>
            <a:endParaRPr lang="en-US" sz="1200" dirty="0"/>
          </a:p>
        </p:txBody>
      </p:sp>
      <p:pic>
        <p:nvPicPr>
          <p:cNvPr id="49" name="Image 9" descr="icons/sync_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2560" y="5623560"/>
            <a:ext cx="365760" cy="365760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95554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Repetible para todos los turnos</a:t>
            </a:r>
            <a:endParaRPr lang="en-US" sz="1200" dirty="0"/>
          </a:p>
        </p:txBody>
      </p:sp>
      <p:sp>
        <p:nvSpPr>
          <p:cNvPr id="51" name="Text 39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Evaluación inicial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572000" cy="498348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00200"/>
            <a:ext cx="685800" cy="6858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77165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6002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antes de enseñar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llegar al Dojo, cada operario responde el AM Game en la PC, antes de cualquier explicación.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54680"/>
            <a:ext cx="4023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digital con preguntas sobre limpieza, inspección, lubricación y apriete.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nota de aprobación: es la línea base de cada persona.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quiz se repite al final de la sesión para medir el avance.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registrado por operario, por turno y por línea.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58064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· INDIVIDUAL · 10 MIN</a:t>
            </a:r>
            <a:endParaRPr lang="en-US" sz="1000" dirty="0"/>
          </a:p>
        </p:txBody>
      </p:sp>
      <p:pic>
        <p:nvPicPr>
          <p:cNvPr id="12" name="Image 1" descr="assets/eval_p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40680" y="1325880"/>
            <a:ext cx="3246120" cy="385876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13" name="Image 2" descr="assets/eval_screen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69680" y="1325880"/>
            <a:ext cx="2770632" cy="1554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14" name="Shape 9"/>
          <p:cNvSpPr/>
          <p:nvPr/>
        </p:nvSpPr>
        <p:spPr>
          <a:xfrm>
            <a:off x="8869680" y="3063240"/>
            <a:ext cx="2770632" cy="2121408"/>
          </a:xfrm>
          <a:prstGeom prst="roundRect">
            <a:avLst>
              <a:gd name="adj" fmla="val 5172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9052560" y="3200400"/>
            <a:ext cx="2423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del AM Game: pregunta, respuestas y barra de avance por pasos. Misma herramienta que en Betim, con preguntas de Pintura.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440680" y="525780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inicial en la PC del Dojo. Fotos de referencia.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Bienvenida: recorrido por los tótems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room_totem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25880"/>
            <a:ext cx="5440680" cy="4059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room_peopl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99632" y="1325880"/>
            <a:ext cx="5440680" cy="4059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548640" y="54406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de Pintura con los 5 tótems de AM.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6199632" y="54406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multiplicador recorre los tótems con el grupo.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4864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9" name="Image 2" descr="icons/boo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925312"/>
            <a:ext cx="310896" cy="31089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el AM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278892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2" name="Image 3" descr="icons/list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59253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33756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0 a 4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502920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4" descr="icons/broom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9253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57784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726948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8" name="Image 5" descr="icons/search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59253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81812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1150" dirty="0"/>
          </a:p>
        </p:txBody>
      </p:sp>
      <p:sp>
        <p:nvSpPr>
          <p:cNvPr id="20" name="Shape 12"/>
          <p:cNvSpPr/>
          <p:nvPr/>
        </p:nvSpPr>
        <p:spPr>
          <a:xfrm>
            <a:off x="950976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21" name="Image 6" descr="icons/clipboard_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5925312"/>
            <a:ext cx="310896" cy="310896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005840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1150" dirty="0"/>
          </a:p>
        </p:txBody>
      </p:sp>
      <p:sp>
        <p:nvSpPr>
          <p:cNvPr id="23" name="Text 1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Rotación por estaciones: 3 juegos prácticos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assets/game1_tool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508760"/>
            <a:ext cx="3163824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1" descr="icons/tools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4194810"/>
            <a:ext cx="251460" cy="2514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1 · Acomodar y clasificar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Separar, ordenar e identificar las herramientas y consumibles del puesto: lo que sirve, lo que sobra y lo que falta.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 · PASO 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315968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assets/game2_maquet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98848" y="1508760"/>
            <a:ext cx="3163824" cy="2377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498848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3" descr="icons/broom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4578" y="4194810"/>
            <a:ext cx="251460" cy="2514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38928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2 · Limpieza de la maqueta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4498848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 sobre la maqueta real: limpiar con las manos, detectar anomalías y etiquetarlas.</a:t>
            </a:r>
            <a:endParaRPr lang="en-US" sz="1150" dirty="0"/>
          </a:p>
        </p:txBody>
      </p:sp>
      <p:sp>
        <p:nvSpPr>
          <p:cNvPr id="17" name="Text 11"/>
          <p:cNvSpPr txBox="1"/>
          <p:nvPr/>
        </p:nvSpPr>
        <p:spPr>
          <a:xfrm>
            <a:off x="4498848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MANOS EN LA MASA · PASO 1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8083296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4" descr="assets/game3_vide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266176" y="1508760"/>
            <a:ext cx="3163824" cy="237744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8266176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5" descr="icons/eye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1906" y="4194810"/>
            <a:ext cx="251460" cy="25146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906256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3 · Video de los 10 errores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8266176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un video del ciclo de limpieza e identificar las 10 cosas que se hicieron mal.</a:t>
            </a:r>
            <a:endParaRPr lang="en-US" sz="1150" dirty="0"/>
          </a:p>
        </p:txBody>
      </p:sp>
      <p:sp>
        <p:nvSpPr>
          <p:cNvPr id="24" name="Text 16"/>
          <p:cNvSpPr txBox="1"/>
          <p:nvPr/>
        </p:nvSpPr>
        <p:spPr>
          <a:xfrm>
            <a:off x="8266176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· PASOS 1 A 3</a:t>
            </a:r>
            <a:endParaRPr lang="en-US" sz="900" dirty="0"/>
          </a:p>
        </p:txBody>
      </p:sp>
      <p:sp>
        <p:nvSpPr>
          <p:cNvPr id="25" name="Text 1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 6 · Evaluación final y certificación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cer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25880"/>
            <a:ext cx="3017520" cy="470001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eval_p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25880"/>
            <a:ext cx="3017520" cy="359359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3749040" y="5074920"/>
            <a:ext cx="3017520" cy="950976"/>
          </a:xfrm>
          <a:prstGeom prst="roundRect">
            <a:avLst>
              <a:gd name="adj" fmla="val 11538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31920" y="5120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quiz del inicio: la diferencia de puntaje muestra lo aprendido.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7040880" y="146304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9" name="Image 2" descr="icons/gamepad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1588770"/>
            <a:ext cx="251460" cy="2514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0" y="144475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Evaluación final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772400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repite el AM Game y se compara con la línea base: así verificamos que el operario aprendió.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7040880" y="2971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3" name="Image 3" descr="icons/lightbulb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6610" y="3097530"/>
            <a:ext cx="251460" cy="2514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772400" y="295351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Compromiso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7772400" y="324612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escribe qué va a aplicar mañana en su puesto y lo comparte con el grupo.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040880" y="448056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7" name="Image 4" descr="icons/medal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6610" y="4606290"/>
            <a:ext cx="251460" cy="2514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772400" y="446227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Certificación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7772400" y="475488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del certificado de AM y registro en la matriz de habilidades de la unidad.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implementación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697480" cy="73152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m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los problemas prioritarios con Mantenimiento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46704" y="1325880"/>
            <a:ext cx="2697480" cy="731520"/>
          </a:xfrm>
          <a:prstGeom prst="chevron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12464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346704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75304" y="2514600"/>
            <a:ext cx="502920" cy="502920"/>
          </a:xfrm>
          <a:prstGeom prst="ellipse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1" descr="icons/cog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034" y="264033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215384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575304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 con componentes reales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44768" y="1325880"/>
            <a:ext cx="2697480" cy="73152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10528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44768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73368" y="2514600"/>
            <a:ext cx="502920" cy="50292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2" name="Image 2" descr="icons/rock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098" y="264033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13448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6373368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grupo de operarios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942832" y="1325880"/>
            <a:ext cx="2697480" cy="73152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308592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942832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171432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9" name="Image 3" descr="icons/chart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162" y="2640330"/>
            <a:ext cx="251460" cy="2514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811512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171432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turnos y líneas de Pintura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de indicadores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NECESITAMOS PARA ARRANCAR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48640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4" name="Image 4" descr="icons/building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669280"/>
            <a:ext cx="411480" cy="41148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280160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Espacio físico dentro de la unidad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3346704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7" name="Image 5" descr="icons/tools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9584" y="5669280"/>
            <a:ext cx="411480" cy="41148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078224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reales para las maquetas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144768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0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5669280"/>
            <a:ext cx="411480" cy="41148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876288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Multiplicadores del área</a:t>
            </a:r>
            <a:endParaRPr lang="en-US" sz="1150" dirty="0"/>
          </a:p>
        </p:txBody>
      </p:sp>
      <p:sp>
        <p:nvSpPr>
          <p:cNvPr id="42" name="Shape 33"/>
          <p:cNvSpPr/>
          <p:nvPr/>
        </p:nvSpPr>
        <p:spPr>
          <a:xfrm>
            <a:off x="8942832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3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5712" y="5669280"/>
            <a:ext cx="411480" cy="41148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674352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Liberación de operarios por turno</a:t>
            </a:r>
            <a:endParaRPr lang="en-US" sz="1150" dirty="0"/>
          </a:p>
        </p:txBody>
      </p:sp>
      <p:sp>
        <p:nvSpPr>
          <p:cNvPr id="45" name="Text 35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 del proyecto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 al 18/09/2026 (semana 38). Columnas por semana calendario, de la S28 a la S45.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977640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977640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S28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97764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7291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7291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S29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387291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96942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96942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796942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06594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06594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S31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206594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16245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16245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16245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25896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25896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S33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025896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5547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5547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S34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435547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45198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45198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S35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845198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54850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4850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S36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25485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64501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64501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S37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664501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74152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74152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S38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074152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83803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83803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S39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483803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893454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893454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8893454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303106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03106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9303106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12757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712757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S42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712757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122408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122408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S43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10122408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32059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532059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0532059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941710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941710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S45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1094171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1311128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48640" y="1783080"/>
            <a:ext cx="11091672" cy="23317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0080" y="1783080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· Diseño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3017520" y="1783080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 – 27/08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036162" y="1847088"/>
            <a:ext cx="2984602" cy="105156"/>
          </a:xfrm>
          <a:prstGeom prst="rect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68680" y="2016252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Definición del Dojo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3017520" y="2016252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 – 07/07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036162" y="2061972"/>
            <a:ext cx="73152" cy="141732"/>
          </a:xfrm>
          <a:prstGeom prst="roundRect">
            <a:avLst>
              <a:gd name="adj" fmla="val 62500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036162" y="2061972"/>
            <a:ext cx="73152" cy="141732"/>
          </a:xfrm>
          <a:prstGeom prst="roundRect">
            <a:avLst>
              <a:gd name="adj" fmla="val 62500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1311128" y="2016252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868680" y="2249424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teórico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3017520" y="2249424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13/07 – 25/07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4387291" y="2295144"/>
            <a:ext cx="702259" cy="141732"/>
          </a:xfrm>
          <a:prstGeom prst="roundRect">
            <a:avLst>
              <a:gd name="adj" fmla="val 32258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387291" y="2295144"/>
            <a:ext cx="702259" cy="141732"/>
          </a:xfrm>
          <a:prstGeom prst="roundRect">
            <a:avLst>
              <a:gd name="adj" fmla="val 32258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1311128" y="2249424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868680" y="2482596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Corroboración técnica y elementos por gestión</a:t>
            </a:r>
            <a:endParaRPr lang="en-US" sz="850" dirty="0"/>
          </a:p>
        </p:txBody>
      </p:sp>
      <p:sp>
        <p:nvSpPr>
          <p:cNvPr id="75" name="Text 73"/>
          <p:cNvSpPr txBox="1"/>
          <p:nvPr/>
        </p:nvSpPr>
        <p:spPr>
          <a:xfrm>
            <a:off x="3017520" y="2482596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22/07 – 05/08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913986" y="2528316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913986" y="2528316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1311128" y="2482596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868680" y="2715768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Conformación de evaluaciones teóricas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3017520" y="2715768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02/08 – 16/08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5557723" y="2761488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557723" y="2761488"/>
            <a:ext cx="573512" cy="141732"/>
          </a:xfrm>
          <a:prstGeom prst="roundRect">
            <a:avLst>
              <a:gd name="adj" fmla="val 32258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1311128" y="2715768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868680" y="2948940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 juegos por cada Dojo</a:t>
            </a:r>
            <a:endParaRPr lang="en-US" sz="850" dirty="0"/>
          </a:p>
        </p:txBody>
      </p:sp>
      <p:sp>
        <p:nvSpPr>
          <p:cNvPr id="85" name="Text 83"/>
          <p:cNvSpPr txBox="1"/>
          <p:nvPr/>
        </p:nvSpPr>
        <p:spPr>
          <a:xfrm>
            <a:off x="3017520" y="2948940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13/08 – 27/08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6201461" y="2994660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201461" y="2994660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1311128" y="2948940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48640" y="3182112"/>
            <a:ext cx="11091672" cy="23317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40080" y="3182112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· Construcción</a:t>
            </a:r>
            <a:endParaRPr lang="en-US" sz="950" dirty="0"/>
          </a:p>
        </p:txBody>
      </p:sp>
      <p:sp>
        <p:nvSpPr>
          <p:cNvPr id="91" name="Text 89"/>
          <p:cNvSpPr txBox="1"/>
          <p:nvPr/>
        </p:nvSpPr>
        <p:spPr>
          <a:xfrm>
            <a:off x="3017520" y="3182112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24/08 – 10/10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6845198" y="3246120"/>
            <a:ext cx="2750515" cy="105156"/>
          </a:xfrm>
          <a:prstGeom prst="rect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868680" y="3415284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Recopilación de herramientas</a:t>
            </a:r>
            <a:endParaRPr lang="en-US" sz="850" dirty="0"/>
          </a:p>
        </p:txBody>
      </p:sp>
      <p:sp>
        <p:nvSpPr>
          <p:cNvPr id="94" name="Text 92"/>
          <p:cNvSpPr txBox="1"/>
          <p:nvPr/>
        </p:nvSpPr>
        <p:spPr>
          <a:xfrm>
            <a:off x="3017520" y="3415284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24/08 – 07/09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845198" y="3461004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45198" y="3461004"/>
            <a:ext cx="409651" cy="141732"/>
          </a:xfrm>
          <a:prstGeom prst="roundRect">
            <a:avLst>
              <a:gd name="adj" fmla="val 32258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1311128" y="3415284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868680" y="3648456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del espacio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3017520" y="3648456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04/09 – 18/09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7488936" y="3694176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88936" y="3694176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11311128" y="3648456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103" name="Text 101"/>
          <p:cNvSpPr txBox="1"/>
          <p:nvPr/>
        </p:nvSpPr>
        <p:spPr>
          <a:xfrm>
            <a:off x="868680" y="3881628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 de elementos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3017520" y="3881628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15/09 – 29/09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8132674" y="3927348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132674" y="3927348"/>
            <a:ext cx="163860" cy="141732"/>
          </a:xfrm>
          <a:prstGeom prst="roundRect">
            <a:avLst>
              <a:gd name="adj" fmla="val 32258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1311128" y="3881628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800" dirty="0"/>
          </a:p>
        </p:txBody>
      </p:sp>
      <p:sp>
        <p:nvSpPr>
          <p:cNvPr id="108" name="Text 106"/>
          <p:cNvSpPr txBox="1"/>
          <p:nvPr/>
        </p:nvSpPr>
        <p:spPr>
          <a:xfrm>
            <a:off x="868680" y="4114800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de stands y pasaporte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3017520" y="4114800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26/09 – 10/10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8776411" y="4160520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776411" y="4160520"/>
            <a:ext cx="163860" cy="141732"/>
          </a:xfrm>
          <a:prstGeom prst="roundRect">
            <a:avLst>
              <a:gd name="adj" fmla="val 32258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11311128" y="4114800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548640" y="4347972"/>
            <a:ext cx="11091672" cy="23317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640080" y="4347972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· Piloto</a:t>
            </a:r>
            <a:endParaRPr lang="en-US" sz="950" dirty="0"/>
          </a:p>
        </p:txBody>
      </p:sp>
      <p:sp>
        <p:nvSpPr>
          <p:cNvPr id="115" name="Text 113"/>
          <p:cNvSpPr txBox="1"/>
          <p:nvPr/>
        </p:nvSpPr>
        <p:spPr>
          <a:xfrm>
            <a:off x="3017520" y="4347972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 – 18/10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9420149" y="4411980"/>
            <a:ext cx="643738" cy="105156"/>
          </a:xfrm>
          <a:prstGeom prst="rect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868680" y="4581144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piloto en Overview + fotos</a:t>
            </a:r>
            <a:endParaRPr lang="en-US" sz="850" dirty="0"/>
          </a:p>
        </p:txBody>
      </p:sp>
      <p:sp>
        <p:nvSpPr>
          <p:cNvPr id="118" name="Text 116"/>
          <p:cNvSpPr txBox="1"/>
          <p:nvPr/>
        </p:nvSpPr>
        <p:spPr>
          <a:xfrm>
            <a:off x="3017520" y="4581144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 – 14/10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9420149" y="4626864"/>
            <a:ext cx="409651" cy="141732"/>
          </a:xfrm>
          <a:prstGeom prst="roundRect">
            <a:avLst>
              <a:gd name="adj" fmla="val 32258"/>
            </a:avLst>
          </a:prstGeom>
          <a:solidFill>
            <a:srgbClr val="079CCE">
              <a:alpha val="30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1311128" y="4581144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868680" y="4814316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piloto</a:t>
            </a:r>
            <a:endParaRPr lang="en-US" sz="850" dirty="0"/>
          </a:p>
        </p:txBody>
      </p:sp>
      <p:sp>
        <p:nvSpPr>
          <p:cNvPr id="122" name="Text 120"/>
          <p:cNvSpPr txBox="1"/>
          <p:nvPr/>
        </p:nvSpPr>
        <p:spPr>
          <a:xfrm>
            <a:off x="3017520" y="4814316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11/10 – 18/10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9654235" y="4860036"/>
            <a:ext cx="409651" cy="141732"/>
          </a:xfrm>
          <a:prstGeom prst="roundRect">
            <a:avLst>
              <a:gd name="adj" fmla="val 32258"/>
            </a:avLst>
          </a:prstGeom>
          <a:solidFill>
            <a:srgbClr val="079CCE">
              <a:alpha val="30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11311128" y="4814316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548640" y="5047488"/>
            <a:ext cx="11091672" cy="23317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640080" y="5047488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· Despliegue</a:t>
            </a:r>
            <a:endParaRPr lang="en-US" sz="950" dirty="0"/>
          </a:p>
        </p:txBody>
      </p:sp>
      <p:sp>
        <p:nvSpPr>
          <p:cNvPr id="127" name="Text 125"/>
          <p:cNvSpPr txBox="1"/>
          <p:nvPr/>
        </p:nvSpPr>
        <p:spPr>
          <a:xfrm>
            <a:off x="3017520" y="5047488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15/10 – 06/11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9888322" y="5111496"/>
            <a:ext cx="1287475" cy="105156"/>
          </a:xfrm>
          <a:prstGeom prst="rect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868680" y="5280660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</a:t>
            </a:r>
            <a:endParaRPr lang="en-US" sz="850" dirty="0"/>
          </a:p>
        </p:txBody>
      </p:sp>
      <p:sp>
        <p:nvSpPr>
          <p:cNvPr id="130" name="Text 128"/>
          <p:cNvSpPr txBox="1"/>
          <p:nvPr/>
        </p:nvSpPr>
        <p:spPr>
          <a:xfrm>
            <a:off x="3017520" y="5280660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15/10 – 29/10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9888322" y="5326380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FFA403">
              <a:alpha val="30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11311128" y="5280660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33" name="Text 131"/>
          <p:cNvSpPr txBox="1"/>
          <p:nvPr/>
        </p:nvSpPr>
        <p:spPr>
          <a:xfrm>
            <a:off x="868680" y="5513832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Gerencia / Calidad / Producción</a:t>
            </a:r>
            <a:endParaRPr lang="en-US" sz="850" dirty="0"/>
          </a:p>
        </p:txBody>
      </p:sp>
      <p:sp>
        <p:nvSpPr>
          <p:cNvPr id="134" name="Text 132"/>
          <p:cNvSpPr txBox="1"/>
          <p:nvPr/>
        </p:nvSpPr>
        <p:spPr>
          <a:xfrm>
            <a:off x="3017520" y="5513832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19/10 – 22/10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10122408" y="5559552"/>
            <a:ext cx="175565" cy="141732"/>
          </a:xfrm>
          <a:prstGeom prst="roundRect">
            <a:avLst>
              <a:gd name="adj" fmla="val 32258"/>
            </a:avLst>
          </a:prstGeom>
          <a:solidFill>
            <a:srgbClr val="FFA403">
              <a:alpha val="30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11311128" y="5513832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37" name="Text 135"/>
          <p:cNvSpPr txBox="1"/>
          <p:nvPr/>
        </p:nvSpPr>
        <p:spPr>
          <a:xfrm>
            <a:off x="868680" y="5747004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y ajustes post implementación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3017520" y="5747004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30/10 – 06/11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10766146" y="5792724"/>
            <a:ext cx="409651" cy="141732"/>
          </a:xfrm>
          <a:prstGeom prst="roundRect">
            <a:avLst>
              <a:gd name="adj" fmla="val 32258"/>
            </a:avLst>
          </a:prstGeom>
          <a:solidFill>
            <a:srgbClr val="FFA403">
              <a:alpha val="30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11311128" y="5747004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41" name="Shape 139"/>
          <p:cNvSpPr/>
          <p:nvPr/>
        </p:nvSpPr>
        <p:spPr>
          <a:xfrm>
            <a:off x="8308238" y="1728216"/>
            <a:ext cx="0" cy="4251960"/>
          </a:xfrm>
          <a:prstGeom prst="line">
            <a:avLst/>
          </a:prstGeom>
          <a:noFill/>
          <a:ln w="19050">
            <a:solidFill>
              <a:srgbClr val="E42312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>
            <a:off x="8015630" y="1179576"/>
            <a:ext cx="585216" cy="201168"/>
          </a:xfrm>
          <a:prstGeom prst="roundRect">
            <a:avLst>
              <a:gd name="adj" fmla="val 22727"/>
            </a:avLst>
          </a:prstGeom>
          <a:solidFill>
            <a:srgbClr val="E42312"/>
          </a:solidFill>
          <a:ln w="12700">
            <a:solidFill>
              <a:srgbClr val="E42312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8015630" y="1179576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· S38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9972446" y="4373118"/>
            <a:ext cx="182880" cy="182880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0206533" y="5072634"/>
            <a:ext cx="182880" cy="182880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11084357" y="5072634"/>
            <a:ext cx="182880" cy="182880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40080" y="6135624"/>
            <a:ext cx="365760" cy="146304"/>
          </a:xfrm>
          <a:prstGeom prst="roundRect">
            <a:avLst>
              <a:gd name="adj" fmla="val 25000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40080" y="6135624"/>
            <a:ext cx="182880" cy="146304"/>
          </a:xfrm>
          <a:prstGeom prst="roundRect">
            <a:avLst>
              <a:gd name="adj" fmla="val 25000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1097280" y="60899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oscura de la barra = avance real</a:t>
            </a:r>
            <a:endParaRPr lang="en-US" sz="850" dirty="0"/>
          </a:p>
        </p:txBody>
      </p:sp>
      <p:sp>
        <p:nvSpPr>
          <p:cNvPr id="150" name="Shape 148"/>
          <p:cNvSpPr/>
          <p:nvPr/>
        </p:nvSpPr>
        <p:spPr>
          <a:xfrm>
            <a:off x="4114800" y="6126480"/>
            <a:ext cx="164592" cy="164592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4389120" y="608990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Hitos: 18/10 prueba piloto · 22/10 validación con Gerencia, Calidad y Producción · 06/11 cierre del seguimiento inicial</a:t>
            </a:r>
            <a:endParaRPr lang="en-US" sz="850" dirty="0"/>
          </a:p>
        </p:txBody>
      </p:sp>
      <p:sp>
        <p:nvSpPr>
          <p:cNvPr id="152" name="Text 150"/>
          <p:cNvSpPr txBox="1"/>
          <p:nvPr/>
        </p:nvSpPr>
        <p:spPr>
          <a:xfrm>
            <a:off x="640080" y="6345936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al 18/09: 7 de 14 tareas terminadas, 4 en curso (evaluaciones teóricas 70%, herramientas 50%, identificación de elementos 20%, prototipo de stands 20%) y 2 vencidas sin cerrar: evaluaciones teóricas y recopilación de herramientas.</a:t>
            </a:r>
            <a:endParaRPr lang="en-US" sz="850" dirty="0"/>
          </a:p>
        </p:txBody>
      </p:sp>
      <p:sp>
        <p:nvSpPr>
          <p:cNvPr id="153" name="Text 15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todo listo para fines de diciembre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propuesto por semana calendario, de la S38 (14/09) a la S52 (23/12/2026).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977640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977640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97764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88485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8485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88485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99330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99330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99933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10174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10174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510174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21019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21019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21019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1864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31864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S43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31864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2709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42709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042709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53554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53554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553554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64398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64398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S46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064398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575243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575243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S47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575243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86088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086088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S48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086088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96933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596933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596933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107778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107778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107778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618622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618622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S51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0618622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129467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1129467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S52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1129467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48640" y="1783080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40080" y="178308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· Diseño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3017520" y="178308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02/10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977640" y="1847088"/>
            <a:ext cx="1313601" cy="118872"/>
          </a:xfrm>
          <a:prstGeom prst="rect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68680" y="202996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3017520" y="202996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23/09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3977640" y="2075688"/>
            <a:ext cx="656800" cy="155448"/>
          </a:xfrm>
          <a:prstGeom prst="roundRect">
            <a:avLst>
              <a:gd name="adj" fmla="val 29412"/>
            </a:avLst>
          </a:prstGeom>
          <a:solidFill>
            <a:srgbClr val="022A5B">
              <a:alpha val="55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68680" y="2276856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problemas con Mantenimiento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3017520" y="227685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25/09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977640" y="2322576"/>
            <a:ext cx="802756" cy="155448"/>
          </a:xfrm>
          <a:prstGeom prst="roundRect">
            <a:avLst>
              <a:gd name="adj" fmla="val 29412"/>
            </a:avLst>
          </a:prstGeom>
          <a:solidFill>
            <a:srgbClr val="022A5B">
              <a:alpha val="55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68680" y="2523744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3017520" y="252374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21/09 – 09/10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4488485" y="2569464"/>
            <a:ext cx="1313601" cy="155448"/>
          </a:xfrm>
          <a:prstGeom prst="roundRect">
            <a:avLst>
              <a:gd name="adj" fmla="val 29412"/>
            </a:avLst>
          </a:prstGeom>
          <a:solidFill>
            <a:srgbClr val="022A5B">
              <a:alpha val="55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8640" y="2770632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40080" y="277063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· Construcción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3017520" y="277063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28/09 – 06/11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999330" y="2834640"/>
            <a:ext cx="2846135" cy="118872"/>
          </a:xfrm>
          <a:prstGeom prst="rect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868680" y="301752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3017520" y="301752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28/09 – 30/10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999330" y="3063240"/>
            <a:ext cx="2335291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68680" y="326440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Imprimir tótems y señalización del sector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3017520" y="326440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05/10 – 23/10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5510174" y="3310128"/>
            <a:ext cx="1313601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68680" y="3511296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3017520" y="351129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05/10 – 30/10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5510174" y="3557016"/>
            <a:ext cx="1824446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68680" y="3758184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3017520" y="37581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12/10 – 06/11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6021019" y="3803904"/>
            <a:ext cx="1824446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48640" y="4005072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640080" y="400507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· Piloto</a:t>
            </a:r>
            <a:endParaRPr lang="en-US" sz="950" dirty="0"/>
          </a:p>
        </p:txBody>
      </p:sp>
      <p:sp>
        <p:nvSpPr>
          <p:cNvPr id="81" name="Text 79"/>
          <p:cNvSpPr txBox="1"/>
          <p:nvPr/>
        </p:nvSpPr>
        <p:spPr>
          <a:xfrm>
            <a:off x="3017520" y="40050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09/11 – 20/11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8064398" y="4069080"/>
            <a:ext cx="802756" cy="118872"/>
          </a:xfrm>
          <a:prstGeom prst="rect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68680" y="425196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piloto con el primer grupo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3017520" y="425196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09/11 – 13/11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8064398" y="4297680"/>
            <a:ext cx="291911" cy="155448"/>
          </a:xfrm>
          <a:prstGeom prst="roundRect">
            <a:avLst>
              <a:gd name="adj" fmla="val 29412"/>
            </a:avLst>
          </a:prstGeom>
          <a:solidFill>
            <a:srgbClr val="079CCE">
              <a:alpha val="55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868680" y="449884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900" dirty="0"/>
          </a:p>
        </p:txBody>
      </p:sp>
      <p:sp>
        <p:nvSpPr>
          <p:cNvPr id="87" name="Text 85"/>
          <p:cNvSpPr txBox="1"/>
          <p:nvPr/>
        </p:nvSpPr>
        <p:spPr>
          <a:xfrm>
            <a:off x="3017520" y="449884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12/11 – 18/11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8283332" y="4544568"/>
            <a:ext cx="437867" cy="155448"/>
          </a:xfrm>
          <a:prstGeom prst="roundRect">
            <a:avLst>
              <a:gd name="adj" fmla="val 29412"/>
            </a:avLst>
          </a:prstGeom>
          <a:solidFill>
            <a:srgbClr val="079CCE">
              <a:alpha val="55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868680" y="4745736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 (línea base)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3017520" y="47457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16/11 – 20/11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8575243" y="4791456"/>
            <a:ext cx="291911" cy="155448"/>
          </a:xfrm>
          <a:prstGeom prst="roundRect">
            <a:avLst>
              <a:gd name="adj" fmla="val 29412"/>
            </a:avLst>
          </a:prstGeom>
          <a:solidFill>
            <a:srgbClr val="079CCE">
              <a:alpha val="55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48640" y="4992624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40080" y="4992624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· Despliegue</a:t>
            </a:r>
            <a:endParaRPr lang="en-US" sz="950" dirty="0"/>
          </a:p>
        </p:txBody>
      </p:sp>
      <p:sp>
        <p:nvSpPr>
          <p:cNvPr id="94" name="Text 92"/>
          <p:cNvSpPr txBox="1"/>
          <p:nvPr/>
        </p:nvSpPr>
        <p:spPr>
          <a:xfrm>
            <a:off x="3017520" y="499262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23/11 – 23/12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9086088" y="5056632"/>
            <a:ext cx="2189335" cy="118872"/>
          </a:xfrm>
          <a:prstGeom prst="rect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68680" y="523951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para todos los turnos y líneas</a:t>
            </a:r>
            <a:endParaRPr lang="en-US" sz="900" dirty="0"/>
          </a:p>
        </p:txBody>
      </p:sp>
      <p:sp>
        <p:nvSpPr>
          <p:cNvPr id="97" name="Text 95"/>
          <p:cNvSpPr txBox="1"/>
          <p:nvPr/>
        </p:nvSpPr>
        <p:spPr>
          <a:xfrm>
            <a:off x="3017520" y="523951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23/11 – 18/12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9086088" y="5285232"/>
            <a:ext cx="1824446" cy="155448"/>
          </a:xfrm>
          <a:prstGeom prst="roundRect">
            <a:avLst>
              <a:gd name="adj" fmla="val 29412"/>
            </a:avLst>
          </a:prstGeom>
          <a:solidFill>
            <a:srgbClr val="FFA403">
              <a:alpha val="55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68680" y="548640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900" dirty="0"/>
          </a:p>
        </p:txBody>
      </p:sp>
      <p:sp>
        <p:nvSpPr>
          <p:cNvPr id="100" name="Text 98"/>
          <p:cNvSpPr txBox="1"/>
          <p:nvPr/>
        </p:nvSpPr>
        <p:spPr>
          <a:xfrm>
            <a:off x="3017520" y="548640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07/12 – 23/12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10107778" y="5532120"/>
            <a:ext cx="1167645" cy="155448"/>
          </a:xfrm>
          <a:prstGeom prst="roundRect">
            <a:avLst>
              <a:gd name="adj" fmla="val 29412"/>
            </a:avLst>
          </a:prstGeom>
          <a:solidFill>
            <a:srgbClr val="FFA403">
              <a:alpha val="55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868680" y="573328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y primera medición de indicadores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3017520" y="57332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14/12 – 23/12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10618622" y="5779008"/>
            <a:ext cx="656800" cy="155448"/>
          </a:xfrm>
          <a:prstGeom prst="roundRect">
            <a:avLst>
              <a:gd name="adj" fmla="val 29412"/>
            </a:avLst>
          </a:prstGeom>
          <a:solidFill>
            <a:srgbClr val="FFA403">
              <a:alpha val="55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190657" y="1805940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44881" y="2793492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766571" y="4027932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1174839" y="5015484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640080" y="6199632"/>
            <a:ext cx="164592" cy="164592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914400" y="6163056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Hitos: S40 (02/10) layout y presupuesto aprobados · S45 (06/11) maquetas y tótems listos · S47 (20/11) go/no-go del despliegue · S52 (23/12) 100% de los turnos certificados</a:t>
            </a:r>
            <a:endParaRPr lang="en-US" sz="900" dirty="0"/>
          </a:p>
        </p:txBody>
      </p:sp>
      <p:sp>
        <p:nvSpPr>
          <p:cNvPr id="111" name="Text 109"/>
          <p:cNvSpPr txBox="1"/>
          <p:nvPr/>
        </p:nvSpPr>
        <p:spPr>
          <a:xfrm>
            <a:off x="640080" y="6437376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Duración total: 15 semanas (S38 a S52 de 2026). Para llegar a diciembre las fases se solapan: la construcción arranca antes de cerrar el diseño y el despliegue sigue al piloto sin pausa.</a:t>
            </a:r>
            <a:endParaRPr lang="en-US" sz="900" dirty="0"/>
          </a:p>
        </p:txBody>
      </p:sp>
      <p:sp>
        <p:nvSpPr>
          <p:cNvPr id="112" name="Text 110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sabremos que funciona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206240" cy="4983480"/>
          </a:xfrm>
          <a:prstGeom prst="roundRect">
            <a:avLst>
              <a:gd name="adj" fmla="val 2609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6" name="Image 0" descr="icons/target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745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060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175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Producción resuelva lo básico y Mantenimiento se dedique a lo complejo.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463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indicadores se miden antes del piloto (línea base) y cada mes después del despliegue.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0" y="132588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212080" y="149961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gra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6367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43600" y="14356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Operarios certificados en los pasos 1 a 3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943600" y="175564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Porcentaje sobre el total de la unidad, por turno y por línea.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0" y="233172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212080" y="250545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7" name="Image 2" descr="icons/gamep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6426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943600" y="244144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 entre evaluación inicial y final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943600" y="276148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de puntaje en el AM Game antes y después de la sesión, y resultado de los 3 juegos.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0" y="333756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212080" y="351129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2" name="Image 3" descr="icons/tag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64845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943600" y="34472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por operarios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5943600" y="376732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Etiquetas abiertas y cerradas por Producción, no por Mantenimiento.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029200" y="434340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5212080" y="451713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7" name="Image 4" descr="icons/wre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65429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943600" y="44531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Intervenciones básicas resueltas por Producción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5943600" y="477316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Limpiezas de pistola, cambios de filtro y aprietes sin llamar a Mantenimiento.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029200" y="534924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212080" y="552297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2" name="Image 5" descr="icons/bol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566013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54589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por causas básicas</a:t>
            </a:r>
            <a:endParaRPr lang="en-US" sz="135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577900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Minutos perdidos por pistola tapada, filtro saturado o fuga, antes y después del Dojo.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>
            <a:alphaModFix amt="1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463040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aprendemos, practicamos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crecemos juntos.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 · Unidad Pintura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31520" y="4480560"/>
            <a:ext cx="6766560" cy="1097280"/>
          </a:xfrm>
          <a:prstGeom prst="roundRect">
            <a:avLst>
              <a:gd name="adj" fmla="val 1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6" name="Image 1" descr="icons/rocket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8006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44805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espacio y arrancar la Fase 1 · Diseño, junto con Mantenimiento y los multiplicadores del área.</a:t>
            </a:r>
            <a:endParaRPr lang="en-US" sz="1400" dirty="0"/>
          </a:p>
        </p:txBody>
      </p:sp>
      <p:pic>
        <p:nvPicPr>
          <p:cNvPr id="8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017520"/>
            <a:ext cx="2011680" cy="3017520"/>
          </a:xfrm>
          <a:prstGeom prst="rect">
            <a:avLst/>
          </a:prstGeom>
        </p:spPr>
      </p:pic>
      <p:pic>
        <p:nvPicPr>
          <p:cNvPr id="9" name="Image 3" descr="assets/am_logo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806440"/>
            <a:ext cx="868680" cy="8046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Dojo de Mantenimiento Autónomo – Unidad Pintura</dc:title>
  <dc:subject>PptxGenJS Presentation</dc:subject>
  <dc:creator>Stellantis – Unidad Pintura</dc:creator>
  <cp:lastModifiedBy>Stellantis – Unidad Pintura</cp:lastModifiedBy>
  <cp:revision>1</cp:revision>
  <dcterms:created xsi:type="dcterms:W3CDTF">2026-09-18T15:20:58Z</dcterms:created>
  <dcterms:modified xsi:type="dcterms:W3CDTF">2026-09-18T15:20:58Z</dcterms:modified>
</cp:coreProperties>
</file>