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Propuesta para crear el Dojo de Mantenimiento Autónomo de la Unidad Pintura. Un espacio físico donde los operarios aprenden haciendo. Es el mismo modelo que ya funcionó en Betim Powertrain.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objetivo es que los operarios dejen de depender de Mantenimiento para cosas básicas y se vuelvan dueños de su propio puesto. Mantenimiento se libera para las fallas complejas.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Dojo desarrolla personas con aprendizaje práctico, accesible y estructurado. Aquí aprendemos, practicamos y crecemos juntos.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el Dojo se enseñan los 3 primeros pasos del Mantenimiento Autónomo: limpieza inicial, eliminación de fuentes de suciedad y creación de estándares de limpieza, lubricación y apriete.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problemas reales de Pintura: pistolas tapadas, filtros saturados, bombas con fugas, mangueras de alta presión y overspray en cabina. Cada uno se conecta con los pasos del AM que lo resuelven.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estaciones prácticas, cada una con una maqueta real: aplicación, circulación de pintura, mangueras de alta presión y cabina. Los operarios rotan por las cuatro.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una sesión: bienvenida, rotación por las 4 estaciones, juegos de evaluación, compromiso personal y certificación. El formato de grupos y duración es una propuesta a ajustar en el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Propuesta del espacio físico: 5 tótems en español que reproducen el contenido de los tótems de Betim, adaptado a Pintura. Render conceptual; la foto real del sector se reemplaza por el montaje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juegos para evaluar: el AM Game digital, la Fórmula 1 AM y la Caza de las 10 Anomalías. Evaluar jugando eleva la participación y la retención.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AM Game es un quiz interactivo. Es digital, individual y con jugadas ilimitadas. En Betim, 1.316 personas lo completaron con 11.992 jugadas en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Fórmula 1 AM es una carrera de pit stop por equipos. Se evalúa tiempo, calidad y seguridad. Es el juego que más genera espíritu de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Caza de las 10 Anomalías, el operario tiene que encontrar errores escondidos en una máquina o maqueta. Entrena el ojo para detectar anomalías temprano, que es la base del paso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modelo ya está probado en Betim Powertrain: más de 1.300 personas completaron el juego, casi 12.000 jugadas y más de 800 colaboradores capacitados del paso 0 al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fases: diseño, construcción, piloto y despliegue. Para arrancar necesitamos el espacio, componentes reales, multiplicadores y tiempo de los operarios.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Indicadores propuestos: operarios certificados, participación en los juegos, anomalías detectadas por operarios, intervenciones básicas resueltas por Producción y paradas por causas básicas.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el Dojo es un espacio para aprender, practicar y crecer juntos. El próximo paso es aprobar el espacio y arrancar la fase de diseño.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image" Target="../media/image-8-6.jp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image" Target="../media/image-9-4.jpg"/><Relationship Id="rId5" Type="http://schemas.openxmlformats.org/officeDocument/2006/relationships/image" Target="../media/image-9-5.png"/><Relationship Id="rId6" Type="http://schemas.openxmlformats.org/officeDocument/2006/relationships/image" Target="../media/image-9-6.jp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jp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dojo_betim_entranc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57607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0720" cy="6858000"/>
          </a:xfrm>
          <a:prstGeom prst="rect">
            <a:avLst/>
          </a:prstGeom>
          <a:solidFill>
            <a:srgbClr val="03142F">
              <a:alpha val="65000"/>
            </a:srgbClr>
          </a:solidFill>
          <a:ln w="12700">
            <a:solidFill>
              <a:srgbClr val="03142F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30936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 ·  UNIDAD PINTURA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55448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DE MANTENIMIENTO AUTÓNOMO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37033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Aprender haciendo: operarios dueños de su propio puesto.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4709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</a:t>
            </a:r>
            <a:pPr indent="0" marL="0">
              <a:buNone/>
            </a:pPr>
            <a:r>
              <a:rPr lang="en-US" sz="13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Unidad Pintura  ·  Manutenção Autônoma</a:t>
            </a:r>
            <a:endParaRPr lang="en-US" sz="1300" dirty="0"/>
          </a:p>
        </p:txBody>
      </p:sp>
      <p:pic>
        <p:nvPicPr>
          <p:cNvPr id="8" name="Image 1" descr="assets/am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5394960"/>
            <a:ext cx="1143000" cy="1060704"/>
          </a:xfrm>
          <a:prstGeom prst="rect">
            <a:avLst/>
          </a:prstGeom>
        </p:spPr>
      </p:pic>
      <p:pic>
        <p:nvPicPr>
          <p:cNvPr id="9" name="Image 2" descr="assets/masc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880" y="4434840"/>
            <a:ext cx="13716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un Dojo en Pintura?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Hoy, muchas paradas cortas dependen de Mantenimiento para tareas que el operario puede resolver.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166360" cy="4572000"/>
          </a:xfrm>
          <a:prstGeom prst="roundRect">
            <a:avLst>
              <a:gd name="adj" fmla="val 24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68680" y="25146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8" name="Image 0" descr="icons/exclam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64033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4963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Dependencia de Mantenimiento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7889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limpiar una pistola, cambiar un filtro o apretar una conexión.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68680" y="34290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cloc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410" y="3554730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34107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Paradas cortas y repetitivas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37033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pistolas tapadas, filtros saturados y fugas en bombas.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68680" y="43434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6" name="Image 2" descr="icons/ey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410" y="4469130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43251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tarde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600200" y="46177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ya generaron un defecto de pintura o una parada.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68680" y="52578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0" name="Image 3" descr="icons/user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10" y="53835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52395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Conocimiento en pocas personas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600200" y="55321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estándares visibles en el puesto de trabajo.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532120" y="3657600"/>
            <a:ext cx="685800" cy="68580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4" name="Image 4" descr="icons/arrow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3570" y="3829050"/>
            <a:ext cx="342900" cy="3429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492240" y="1691640"/>
            <a:ext cx="5148072" cy="4572000"/>
          </a:xfrm>
          <a:prstGeom prst="roundRect">
            <a:avLst>
              <a:gd name="adj" fmla="val 2400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6812280" y="1920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DOJO</a:t>
            </a:r>
            <a:endParaRPr lang="en-US" sz="2000" dirty="0"/>
          </a:p>
        </p:txBody>
      </p:sp>
      <p:sp>
        <p:nvSpPr>
          <p:cNvPr id="27" name="Shape 20"/>
          <p:cNvSpPr/>
          <p:nvPr/>
        </p:nvSpPr>
        <p:spPr>
          <a:xfrm>
            <a:off x="6812280" y="25146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8" name="Image 5" descr="icons/user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8010" y="2640330"/>
            <a:ext cx="251460" cy="25146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543800" y="24963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operario es dueño de su puesto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7543800" y="27889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limpia, inspecciona y resuelve lo básico por sí mismo.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812280" y="34290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2" name="Image 6" descr="icons/clipboard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8010" y="3554730"/>
            <a:ext cx="251460" cy="25146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543800" y="34107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Limpieza, lubricación y apriete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7543800" y="37033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rutina estandarizada en cada turno.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6812280" y="43434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6" name="Image 7" descr="icons/search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8010" y="4469130"/>
            <a:ext cx="251460" cy="25146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543800" y="43251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temprano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7543800" y="46177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etiquetadas y resueltas antes de convertirse en falla.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6812280" y="52578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40" name="Image 8" descr="icons/tools_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8010" y="5383530"/>
            <a:ext cx="251460" cy="251460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7543800" y="52395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Mantenimiento enfocado en lo complejo</a:t>
            </a:r>
            <a:endParaRPr lang="en-US" sz="1400" dirty="0"/>
          </a:p>
        </p:txBody>
      </p:sp>
      <p:sp>
        <p:nvSpPr>
          <p:cNvPr id="42" name="Text 31"/>
          <p:cNvSpPr txBox="1"/>
          <p:nvPr/>
        </p:nvSpPr>
        <p:spPr>
          <a:xfrm>
            <a:off x="7543800" y="55321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fallas mayores, mejoras y confiabilidad.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el Dojo de AM?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dojo_betim_w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846320" cy="272491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4864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AM de Betim Powertrain, referencia del modelo.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4526280"/>
            <a:ext cx="48463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4709160"/>
            <a:ext cx="4297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espacio físico de entrenamiento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de la unidad, donde los operarios de producción aprenden haciendo, con las manos en la masa, sobre maquetas reales de los equipos de Pintura.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852160" y="132588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126480" y="155448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0" name="Image 1" descr="icons/targe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070" y="170307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12648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Propósito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2898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Convertir conocimiento en habilidades: el operario hace, no solo escucha.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869680" y="132588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144000" y="155448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5" name="Image 2" descr="icons/boo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2590" y="170307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lo hacemos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144000" y="2898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Lenguaje simple y práctico, estándares accesibles y aprendizaje continuo.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852160" y="393192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126480" y="416052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0" name="Image 3" descr="icons/char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5070" y="4309110"/>
            <a:ext cx="297180" cy="2971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126480" y="4846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126480" y="55046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Biblioteca viva de patrones y buenas prácticas que se adapta a los desafíos de la planta.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869680" y="393192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44000" y="416052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5" name="Image 4" descr="icons/handshak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2590" y="4309110"/>
            <a:ext cx="297180" cy="2971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144000" y="4846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 colaborativa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9144000" y="55046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Líderes de área y multiplicadores definen prioridades y guían el desarrollo del equipo.</a:t>
            </a:r>
            <a:endParaRPr lang="en-US" sz="1150" dirty="0"/>
          </a:p>
        </p:txBody>
      </p:sp>
      <p:sp>
        <p:nvSpPr>
          <p:cNvPr id="28" name="Text 21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3 primeros pasos del AM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van a aprender los operarios en el Dojo, paso a paso.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611880" cy="868680"/>
          </a:xfrm>
          <a:prstGeom prst="homePlat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697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9" name="Image 0" descr="icons/broom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3464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Limpiar es inspeccionar.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profunda del equipo, con las manos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Detectar y etiquetar anomalías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Restablecer las condiciones básicas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2296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14" name="Image 1" descr="icons/check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5175504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8016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limpio y anomalías etiquetadas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297680" y="1325880"/>
            <a:ext cx="3611880" cy="868680"/>
          </a:xfrm>
          <a:prstGeom prst="chevron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5488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429768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72000" y="2697480"/>
            <a:ext cx="548640" cy="548640"/>
          </a:xfrm>
          <a:prstGeom prst="ellipse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pic>
        <p:nvPicPr>
          <p:cNvPr id="20" name="Image 2" descr="icons/search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834640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Eliminar fuentes de suciedad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Atacar la causa, no el síntoma.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de dónde viene la suciedad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Contener o eliminar la fuente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Facilitar el acceso para limpiar e inspeccionar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7200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25" name="Image 3" descr="icons/check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02920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de suciedad eliminadas o contenidas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8046720" y="1325880"/>
            <a:ext cx="3611880" cy="868680"/>
          </a:xfrm>
          <a:prstGeom prst="chevron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50392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</a:t>
            </a:r>
            <a:endParaRPr lang="en-US" sz="2200" dirty="0"/>
          </a:p>
        </p:txBody>
      </p:sp>
      <p:sp>
        <p:nvSpPr>
          <p:cNvPr id="29" name="Shape 23"/>
          <p:cNvSpPr/>
          <p:nvPr/>
        </p:nvSpPr>
        <p:spPr>
          <a:xfrm>
            <a:off x="804672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8321040" y="2697480"/>
            <a:ext cx="548640" cy="54864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1" name="Image 4" descr="icons/clipboard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2834640"/>
            <a:ext cx="274320" cy="27432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00684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Estándares de limpieza, lubricación y apriete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832104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la rutina no dependa de la memoria.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832104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qué, cómo, cuándo y quién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visual en el puesto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en cada turno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832104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36" name="Image 5" descr="icons/check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0768" y="5175504"/>
            <a:ext cx="256032" cy="256032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77824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LLA visible en el puesto</a:t>
            </a:r>
            <a:endParaRPr lang="en-US" sz="1050" dirty="0"/>
          </a:p>
        </p:txBody>
      </p:sp>
      <p:sp>
        <p:nvSpPr>
          <p:cNvPr id="38" name="Shape 30"/>
          <p:cNvSpPr/>
          <p:nvPr/>
        </p:nvSpPr>
        <p:spPr>
          <a:xfrm>
            <a:off x="548640" y="58978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9" name="Image 6" descr="icons/target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6007608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188720" y="58978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Base: Paso 0.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Medición de KPIs y priorización de máquinas, definidas junto con Mantenimiento antes de entrar al Dojo.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Aplicado a problemas reales de Pintura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de teoría abstracta: cada paso se practica sobre lo que el operario ve todos los días en su línea.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88720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7" name="Image 0" descr="icons/spray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460" y="221742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Pistolas tapadas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Boquillas y agujas obstruidas por pintura seca. Se practica desmontaje, limpieza y verificación del patrón de aplicación.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05840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5840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798064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438144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4" name="Image 1" descr="icons/filter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884" y="221742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980944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Filtros saturados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2980944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Caída de presión y defectos por filtros colmatados. Se practica inspección, cambio y registro de la frecuencia.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3255264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255264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47488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687568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1" name="Image 2" descr="icons/pump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3308" y="221742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230368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Bombas con fugas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5230368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Fugas en sellos y conexiones que ensucian y desperdician pintura. Se practica detección, etiquetado y apriete correcto.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504688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504688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296912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936992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8" name="Image 3" descr="icons/hose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2732" y="2217420"/>
            <a:ext cx="411480" cy="41148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479792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Mangueras de alta presión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7479792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Desgaste, roces y conexiones flojas con riesgo para la seguridad. Se practica inspección, rutas y apriete seguro.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7754112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7754112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2 · 3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9546336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10186416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5" name="Image 4" descr="icons/wind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2156" y="2217420"/>
            <a:ext cx="411480" cy="41148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729216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Overspray en cabina</a:t>
            </a:r>
            <a:endParaRPr lang="en-US" sz="1500" dirty="0"/>
          </a:p>
        </p:txBody>
      </p:sp>
      <p:sp>
        <p:nvSpPr>
          <p:cNvPr id="37" name="Text 30"/>
          <p:cNvSpPr txBox="1"/>
          <p:nvPr/>
        </p:nvSpPr>
        <p:spPr>
          <a:xfrm>
            <a:off x="9729216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Pintura pulverizada acumulada en rejillas, paredes y equipos. Se practica limpieza inicial y eliminación de la fuente.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10003536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10003536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40" name="Text 33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estaciones prácticas con maquetas reales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087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691640" y="1554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7" name="Image 0" descr="icons/spra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6916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37744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Aplicación: pistolas y atomizadores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Pistola y atomizador reales montados en banco, con aire comprimido.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788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Desmontaje, limpieza de boquilla y aguja, montaje, prueba del patrón de aplicación y estándar de limpieza al fin de turno.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0" y="32461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46520" y="15087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7360920" y="1554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6" name="Image 1" descr="icons/pum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6916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04672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Circulación: filtros y bombas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286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Circuito de bomba con filtros, manómetros y puntos de fuga simulados.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2788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presión diferencial, cambio de filtro, detección y etiquetado de fugas, lubricación de los puntos definidos.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10241280" y="32461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24128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 · 3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48640" y="393192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777240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24" name="Shape 20"/>
          <p:cNvSpPr/>
          <p:nvPr/>
        </p:nvSpPr>
        <p:spPr>
          <a:xfrm>
            <a:off x="1691640" y="416052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5" name="Image 2" descr="icons/hos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4297680"/>
            <a:ext cx="274320" cy="27432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377440" y="41148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Mangueras y conexiones de alta presión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777240" y="48920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con mangueras, racores y conexiones en distintos estados de desgaste.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777240" y="53949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 de roces y desgaste, apriete con el torque correcto, despresurización y bloqueo seguro antes de intervenir.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72000" y="585216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72000" y="5852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2 · 3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6217920" y="393192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27"/>
          <p:cNvSpPr txBox="1"/>
          <p:nvPr/>
        </p:nvSpPr>
        <p:spPr>
          <a:xfrm>
            <a:off x="6446520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400" dirty="0"/>
          </a:p>
        </p:txBody>
      </p:sp>
      <p:sp>
        <p:nvSpPr>
          <p:cNvPr id="33" name="Shape 28"/>
          <p:cNvSpPr/>
          <p:nvPr/>
        </p:nvSpPr>
        <p:spPr>
          <a:xfrm>
            <a:off x="7360920" y="416052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4" name="Image 3" descr="icons/win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297680"/>
            <a:ext cx="274320" cy="274320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8046720" y="41148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Cabina y overspray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6446520" y="48920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Sección de cabina a escala con rejillas, paredes y plenum.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6446520" y="53949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inicial, identificar de dónde viene el overspray, contener la fuente y definir la frecuencia de limpieza.</a:t>
            </a:r>
            <a:endParaRPr lang="en-US" sz="1150" dirty="0"/>
          </a:p>
        </p:txBody>
      </p:sp>
      <p:sp>
        <p:nvSpPr>
          <p:cNvPr id="38" name="Shape 32"/>
          <p:cNvSpPr/>
          <p:nvPr/>
        </p:nvSpPr>
        <p:spPr>
          <a:xfrm>
            <a:off x="10241280" y="585216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10241280" y="5852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es una sesión en el Dojo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655064" y="2446020"/>
            <a:ext cx="8851392" cy="0"/>
          </a:xfrm>
          <a:prstGeom prst="line">
            <a:avLst/>
          </a:prstGeom>
          <a:noFill/>
          <a:ln w="38100">
            <a:solidFill>
              <a:srgbClr val="D9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20724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6" name="Image 0" descr="icons/hardha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7894" y="2228850"/>
            <a:ext cx="434340" cy="4343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472184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72184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0632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Bienvenida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703320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Conceptos de los pasos 1, 2 y 3 en lenguaje simple, con ejemplos de la línea.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433572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tool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0742" y="2228850"/>
            <a:ext cx="434340" cy="4343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685032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685032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2852928" y="30632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Rotación por estaciones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2898648" y="3703320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Manos en la masa: las 4 maquetas, guiadas por un multiplicador del área.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46420" y="2011680"/>
            <a:ext cx="868680" cy="86868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8" name="Image 2" descr="icons/gamepad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3590" y="2228850"/>
            <a:ext cx="434340" cy="43434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89788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8978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5065776" y="30632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Juegos de evaluación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5111496" y="3703320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Game, Fórmula 1 AM y Caza de las 10 Anomalías.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7859268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4" name="Image 3" descr="icons/lightbulb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438" y="2228850"/>
            <a:ext cx="434340" cy="43434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8110728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110728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7278624" y="30632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7324344" y="3703320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operario define qué aplica mañana en su propio puesto.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10072116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0" name="Image 4" descr="icons/medal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9286" y="2228850"/>
            <a:ext cx="434340" cy="43434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10323576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10323576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26"/>
          <p:cNvSpPr txBox="1"/>
          <p:nvPr/>
        </p:nvSpPr>
        <p:spPr>
          <a:xfrm>
            <a:off x="9491472" y="30632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Certificación</a:t>
            </a:r>
            <a:endParaRPr lang="en-US" sz="1500" dirty="0"/>
          </a:p>
        </p:txBody>
      </p:sp>
      <p:sp>
        <p:nvSpPr>
          <p:cNvPr id="34" name="Text 27"/>
          <p:cNvSpPr txBox="1"/>
          <p:nvPr/>
        </p:nvSpPr>
        <p:spPr>
          <a:xfrm>
            <a:off x="9537192" y="3703320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Reconocimiento y registro en la matriz de habilidades.</a:t>
            </a:r>
            <a:endParaRPr lang="en-US" sz="1150" dirty="0"/>
          </a:p>
        </p:txBody>
      </p:sp>
      <p:sp>
        <p:nvSpPr>
          <p:cNvPr id="35" name="Shape 28"/>
          <p:cNvSpPr/>
          <p:nvPr/>
        </p:nvSpPr>
        <p:spPr>
          <a:xfrm>
            <a:off x="548640" y="5074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822960" y="5212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PROPUESTO</a:t>
            </a:r>
            <a:endParaRPr lang="en-US" sz="1000" dirty="0"/>
          </a:p>
        </p:txBody>
      </p:sp>
      <p:pic>
        <p:nvPicPr>
          <p:cNvPr id="37" name="Image 5" descr="icons/users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623560"/>
            <a:ext cx="365760" cy="36576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13258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de 8 a 10 operarios</a:t>
            </a:r>
            <a:endParaRPr lang="en-US" sz="1200" dirty="0"/>
          </a:p>
        </p:txBody>
      </p:sp>
      <p:pic>
        <p:nvPicPr>
          <p:cNvPr id="39" name="Image 6" descr="icons/clock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6160" y="5623560"/>
            <a:ext cx="365760" cy="36576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40690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 turno por sesión</a:t>
            </a:r>
            <a:endParaRPr lang="en-US" sz="1200" dirty="0"/>
          </a:p>
        </p:txBody>
      </p:sp>
      <p:pic>
        <p:nvPicPr>
          <p:cNvPr id="41" name="Image 7" descr="icons/user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5623560"/>
            <a:ext cx="365760" cy="36576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68122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Guiado por multiplicadores del área</a:t>
            </a:r>
            <a:endParaRPr lang="en-US" sz="1200" dirty="0"/>
          </a:p>
        </p:txBody>
      </p:sp>
      <p:pic>
        <p:nvPicPr>
          <p:cNvPr id="43" name="Image 8" descr="icons/sync_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52560" y="5623560"/>
            <a:ext cx="365760" cy="365760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95554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Repetible para todos los turnos</a:t>
            </a:r>
            <a:endParaRPr lang="en-US" sz="1200" dirty="0"/>
          </a:p>
        </p:txBody>
      </p:sp>
      <p:sp>
        <p:nvSpPr>
          <p:cNvPr id="45" name="Text 34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espacio en Pintura: tótems de entrenamiento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room_ren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949440" cy="39090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48640" y="52578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conceptual del sector de Pintura con los 5 tótems del recorrido. Mismo formato que los tótems del Dojo de Betim, en español.</a:t>
            </a:r>
            <a:endParaRPr lang="en-US" sz="1050" dirty="0"/>
          </a:p>
        </p:txBody>
      </p:sp>
      <p:pic>
        <p:nvPicPr>
          <p:cNvPr id="6" name="Image 1" descr="assets/t1_am_thum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280160"/>
            <a:ext cx="1188720" cy="211226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7" name="Text 3"/>
          <p:cNvSpPr txBox="1"/>
          <p:nvPr/>
        </p:nvSpPr>
        <p:spPr>
          <a:xfrm>
            <a:off x="7818120" y="34107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el AM?</a:t>
            </a:r>
            <a:endParaRPr lang="en-US" sz="950" dirty="0"/>
          </a:p>
        </p:txBody>
      </p:sp>
      <p:pic>
        <p:nvPicPr>
          <p:cNvPr id="8" name="Image 2" descr="assets/t2_pasos_thumb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280160"/>
            <a:ext cx="1188720" cy="211226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9" name="Text 4"/>
          <p:cNvSpPr txBox="1"/>
          <p:nvPr/>
        </p:nvSpPr>
        <p:spPr>
          <a:xfrm>
            <a:off x="9144000" y="34107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0 a 4</a:t>
            </a:r>
            <a:endParaRPr lang="en-US" sz="950" dirty="0"/>
          </a:p>
        </p:txBody>
      </p:sp>
      <p:pic>
        <p:nvPicPr>
          <p:cNvPr id="10" name="Image 3" descr="assets/t3_paso1_thumb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880" y="1280160"/>
            <a:ext cx="1188720" cy="211226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11" name="Text 5"/>
          <p:cNvSpPr txBox="1"/>
          <p:nvPr/>
        </p:nvSpPr>
        <p:spPr>
          <a:xfrm>
            <a:off x="10469880" y="34107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</a:t>
            </a:r>
            <a:endParaRPr lang="en-US" sz="950" dirty="0"/>
          </a:p>
        </p:txBody>
      </p:sp>
      <p:pic>
        <p:nvPicPr>
          <p:cNvPr id="12" name="Image 4" descr="assets/t4_paso2_thumb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8120" y="3794760"/>
            <a:ext cx="1188720" cy="211226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13" name="Text 6"/>
          <p:cNvSpPr txBox="1"/>
          <p:nvPr/>
        </p:nvSpPr>
        <p:spPr>
          <a:xfrm>
            <a:off x="7818120" y="59253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</a:t>
            </a:r>
            <a:endParaRPr lang="en-US" sz="950" dirty="0"/>
          </a:p>
        </p:txBody>
      </p:sp>
      <p:pic>
        <p:nvPicPr>
          <p:cNvPr id="14" name="Image 5" descr="assets/t5_paso3_thumb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3794760"/>
            <a:ext cx="1188720" cy="211226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15" name="Text 7"/>
          <p:cNvSpPr txBox="1"/>
          <p:nvPr/>
        </p:nvSpPr>
        <p:spPr>
          <a:xfrm>
            <a:off x="9144000" y="59253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</a:t>
            </a:r>
            <a:endParaRPr lang="en-US" sz="950" dirty="0"/>
          </a:p>
        </p:txBody>
      </p:sp>
      <p:sp>
        <p:nvSpPr>
          <p:cNvPr id="16" name="Shape 8"/>
          <p:cNvSpPr/>
          <p:nvPr/>
        </p:nvSpPr>
        <p:spPr>
          <a:xfrm>
            <a:off x="10469880" y="3794760"/>
            <a:ext cx="1170432" cy="2286000"/>
          </a:xfrm>
          <a:prstGeom prst="roundRect">
            <a:avLst>
              <a:gd name="adj" fmla="val 9375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7" name="Image 6" descr="icons/map_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4200" y="3977640"/>
            <a:ext cx="594360" cy="59436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10561320" y="4663440"/>
            <a:ext cx="1005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tótems guían la rotación: cada uno abre una estación.</a:t>
            </a:r>
            <a:endParaRPr lang="en-US" sz="950" dirty="0"/>
          </a:p>
        </p:txBody>
      </p:sp>
      <p:sp>
        <p:nvSpPr>
          <p:cNvPr id="19" name="Text 10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tótem se imprime en lona o PVC de 90 × 160 cm sobre estructura autoportante, igual que en Betim.</a:t>
            </a:r>
            <a:endParaRPr lang="en-US" sz="1200" dirty="0"/>
          </a:p>
        </p:txBody>
      </p:sp>
      <p:sp>
        <p:nvSpPr>
          <p:cNvPr id="20" name="Text 11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NO SEA ABURRIDO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juegos para evaluar lo aprendido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9584" cy="448056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assets/amgam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2011680"/>
            <a:ext cx="3163824" cy="1965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4206240"/>
            <a:ext cx="548640" cy="54864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7" name="Image 1" descr="icons/mobile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3434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4206240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Game digital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937760"/>
            <a:ext cx="3163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interactivo con ranking en pantalla.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80644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· INDIVIDUAL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4315968" y="1828800"/>
            <a:ext cx="3529584" cy="448056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assets/f1am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498848" y="2011680"/>
            <a:ext cx="3163824" cy="196596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498848" y="4206240"/>
            <a:ext cx="548640" cy="54864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4" name="Image 3" descr="icons/flag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008" y="434340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184648" y="4206240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1 AM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4498848" y="4937760"/>
            <a:ext cx="3163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Carrera de pit stop por equipos contra el cronómetro.</a:t>
            </a:r>
            <a:endParaRPr lang="en-US" sz="1250" dirty="0"/>
          </a:p>
        </p:txBody>
      </p:sp>
      <p:sp>
        <p:nvSpPr>
          <p:cNvPr id="17" name="Text 11"/>
          <p:cNvSpPr txBox="1"/>
          <p:nvPr/>
        </p:nvSpPr>
        <p:spPr>
          <a:xfrm>
            <a:off x="4498848" y="580644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PRÁCTICO · POR EQUIPOS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8083296" y="1828800"/>
            <a:ext cx="3529584" cy="448056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4" descr="assets/dojo_training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66176" y="2011680"/>
            <a:ext cx="3163824" cy="196596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8266176" y="4206240"/>
            <a:ext cx="548640" cy="54864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1" name="Image 5" descr="icons/searchplus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336" y="4343400"/>
            <a:ext cx="274320" cy="27432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8951976" y="4206240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Caza de las 10 Anomalías</a:t>
            </a:r>
            <a:endParaRPr lang="en-US" sz="1800" dirty="0"/>
          </a:p>
        </p:txBody>
      </p:sp>
      <p:sp>
        <p:nvSpPr>
          <p:cNvPr id="23" name="Text 15"/>
          <p:cNvSpPr txBox="1"/>
          <p:nvPr/>
        </p:nvSpPr>
        <p:spPr>
          <a:xfrm>
            <a:off x="8266176" y="4937760"/>
            <a:ext cx="3163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Encontrar los errores escondidos en una máquina.</a:t>
            </a:r>
            <a:endParaRPr lang="en-US" sz="1250" dirty="0"/>
          </a:p>
        </p:txBody>
      </p:sp>
      <p:sp>
        <p:nvSpPr>
          <p:cNvPr id="24" name="Text 16"/>
          <p:cNvSpPr txBox="1"/>
          <p:nvPr/>
        </p:nvSpPr>
        <p:spPr>
          <a:xfrm>
            <a:off x="8266176" y="580644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OBSERVACIÓN · INDIVIDUAL</a:t>
            </a:r>
            <a:endParaRPr lang="en-US" sz="950" dirty="0"/>
          </a:p>
        </p:txBody>
      </p:sp>
      <p:sp>
        <p:nvSpPr>
          <p:cNvPr id="25" name="Text 17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1 · AM Game digital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amga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212080" cy="291693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48640" y="431596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 del AM Game en Betim: pregunta, respuestas y barra de avance por pasos.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4709160"/>
            <a:ext cx="5212080" cy="1600200"/>
          </a:xfrm>
          <a:prstGeom prst="roundRect">
            <a:avLst>
              <a:gd name="adj" fmla="val 6857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48463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1.316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2834640" y="48463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completaron el juego en Betim Powertrain, con 9,1 jugadas por empleado.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5760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mide: conocimiento de los pasos 1 a 3 aplicado a Pintura.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309360" y="13258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funciona?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309360" y="192024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mobil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090" y="2045970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40880" y="1901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interactivo en tablet o celular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040880" y="21945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Disponible en el Dojo y en la línea, sin instalar nada.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309360" y="301752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6" name="Image 2" descr="icons/questio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090" y="3143250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040880" y="2999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 con casos reales de Pintura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7040880" y="32918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Pistolas, filtros, bombas, mangueras y cabina, ilustradas con situaciones de la línea.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309360" y="41148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0" name="Image 3" descr="icons/stopwatch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5090" y="42405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40880" y="4096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por pregunta y puntaje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040880" y="43891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ranking se muestra en la pantalla del Dojo y alimenta la competencia sana.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309360" y="521208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4" name="Image 4" descr="icons/sync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5090" y="5337810"/>
            <a:ext cx="251460" cy="2514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040880" y="5193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Jugadas ilimitadas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7040880" y="54864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intento refuerza el contenido. Se registra el mejor puntaje y la cantidad de jugadas.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2 · Fórmula 1 AM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f1a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4480560" cy="339242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48640" y="4937760"/>
            <a:ext cx="1417320" cy="1371600"/>
          </a:xfrm>
          <a:prstGeom prst="roundRect">
            <a:avLst>
              <a:gd name="adj" fmla="val 8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6" name="Image 1" descr="icons/stopwatch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507492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5778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2075688" y="4937760"/>
            <a:ext cx="1417320" cy="1371600"/>
          </a:xfrm>
          <a:prstGeom prst="roundRect">
            <a:avLst>
              <a:gd name="adj" fmla="val 8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9" name="Image 2" descr="icons/check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8608" y="5074920"/>
            <a:ext cx="411480" cy="411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075688" y="55778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Calidad</a:t>
            </a:r>
            <a:endParaRPr lang="en-US" sz="1300" dirty="0"/>
          </a:p>
        </p:txBody>
      </p:sp>
      <p:sp>
        <p:nvSpPr>
          <p:cNvPr id="11" name="Shape 6"/>
          <p:cNvSpPr/>
          <p:nvPr/>
        </p:nvSpPr>
        <p:spPr>
          <a:xfrm>
            <a:off x="3602736" y="4937760"/>
            <a:ext cx="1417320" cy="1371600"/>
          </a:xfrm>
          <a:prstGeom prst="roundRect">
            <a:avLst>
              <a:gd name="adj" fmla="val 8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2" name="Image 3" descr="icons/lock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5656" y="5074920"/>
            <a:ext cx="411480" cy="4114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602736" y="55778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</a:t>
            </a:r>
            <a:endParaRPr lang="en-US" sz="1300" dirty="0"/>
          </a:p>
        </p:txBody>
      </p:sp>
      <p:sp>
        <p:nvSpPr>
          <p:cNvPr id="14" name="Text 8"/>
          <p:cNvSpPr txBox="1"/>
          <p:nvPr/>
        </p:nvSpPr>
        <p:spPr>
          <a:xfrm>
            <a:off x="5577840" y="13258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Carrera de pit stop por equipos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5577840" y="178308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Competencia, consistencia y rigor: igual que un pit stop de Fórmula 1, cada segundo y cada detalle cuentan.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5577840" y="25146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7" name="Image 4" descr="icons/users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3570" y="2640330"/>
            <a:ext cx="251460" cy="2514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309360" y="249631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Equipos de 4 a 5 operarios</a:t>
            </a:r>
            <a:endParaRPr lang="en-US" sz="1400" dirty="0"/>
          </a:p>
        </p:txBody>
      </p:sp>
      <p:sp>
        <p:nvSpPr>
          <p:cNvPr id="19" name="Text 12"/>
          <p:cNvSpPr txBox="1"/>
          <p:nvPr/>
        </p:nvSpPr>
        <p:spPr>
          <a:xfrm>
            <a:off x="6309360" y="27889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uno con un rol: limpieza, inspección, apriete y verificación final.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5577840" y="347472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1" name="Image 5" descr="icons/tools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3570" y="3600450"/>
            <a:ext cx="251460" cy="25146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309360" y="345643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Tareas del pit stop</a:t>
            </a:r>
            <a:endParaRPr lang="en-US" sz="1400" dirty="0"/>
          </a:p>
        </p:txBody>
      </p:sp>
      <p:sp>
        <p:nvSpPr>
          <p:cNvPr id="23" name="Text 15"/>
          <p:cNvSpPr txBox="1"/>
          <p:nvPr/>
        </p:nvSpPr>
        <p:spPr>
          <a:xfrm>
            <a:off x="6309360" y="374904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Limpiar la pistola, cambiar el filtro, apretar la conexión y ejecutar el estándar de limpieza, lubricación y apriete.</a:t>
            </a:r>
            <a:endParaRPr lang="en-US" sz="1200" dirty="0"/>
          </a:p>
        </p:txBody>
      </p:sp>
      <p:sp>
        <p:nvSpPr>
          <p:cNvPr id="24" name="Shape 16"/>
          <p:cNvSpPr/>
          <p:nvPr/>
        </p:nvSpPr>
        <p:spPr>
          <a:xfrm>
            <a:off x="5577840" y="443484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5" name="Image 6" descr="icons/flag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03570" y="4560570"/>
            <a:ext cx="251460" cy="25146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6309360" y="44165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 el cronómetro</a:t>
            </a:r>
            <a:endParaRPr lang="en-US" sz="1400" dirty="0"/>
          </a:p>
        </p:txBody>
      </p:sp>
      <p:sp>
        <p:nvSpPr>
          <p:cNvPr id="27" name="Text 18"/>
          <p:cNvSpPr txBox="1"/>
          <p:nvPr/>
        </p:nvSpPr>
        <p:spPr>
          <a:xfrm>
            <a:off x="6309360" y="47091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Gana el equipo más rápido sin errores. Cada anomalía no vista o paso saltado suma segundos de penalización.</a:t>
            </a:r>
            <a:endParaRPr lang="en-US" sz="1200" dirty="0"/>
          </a:p>
        </p:txBody>
      </p:sp>
      <p:sp>
        <p:nvSpPr>
          <p:cNvPr id="28" name="Shape 19"/>
          <p:cNvSpPr/>
          <p:nvPr/>
        </p:nvSpPr>
        <p:spPr>
          <a:xfrm>
            <a:off x="5577840" y="539496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9" name="Image 7" descr="icons/trophy_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03570" y="5520690"/>
            <a:ext cx="251460" cy="25146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6309360" y="53766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Podio y reconocimiento</a:t>
            </a:r>
            <a:endParaRPr lang="en-US" sz="1400" dirty="0"/>
          </a:p>
        </p:txBody>
      </p:sp>
      <p:sp>
        <p:nvSpPr>
          <p:cNvPr id="31" name="Text 21"/>
          <p:cNvSpPr txBox="1"/>
          <p:nvPr/>
        </p:nvSpPr>
        <p:spPr>
          <a:xfrm>
            <a:off x="6309360" y="566928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por turno y por línea. El podio se exhibe en el Dojo.</a:t>
            </a:r>
            <a:endParaRPr lang="en-US" sz="1200" dirty="0"/>
          </a:p>
        </p:txBody>
      </p:sp>
      <p:sp>
        <p:nvSpPr>
          <p:cNvPr id="32" name="Text 2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3 · Caza de las 10 Anomalías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754880" cy="49834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6" name="Image 0" descr="icons/searchplus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6002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Encontrar lo que nadie ve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maqueta, o una máquina real, preparada con 10 anomalías escondidas. El operario tiene 10 minutos para encontrarlas, etiquetarlas y clasificarlas: ¿la resuelvo yo o la escalo a Mantenimiento?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PUNTUACIÓN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22960" y="434340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43434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de 10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240280" y="4343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Cazador experto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2960" y="4965192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96519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a 9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49651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2960" y="5586984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558698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de 7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55869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Vuelve a la estación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0" y="13258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10 ANOMALÍAS ESCONDIDAS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0" y="1737360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852160" y="1911096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852160" y="1911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446520" y="1737360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Boquilla de pistola obstruida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732520" y="1737360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915400" y="1911096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15400" y="1911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509760" y="1737360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saturado sin registro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0" y="2670048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852160" y="2843784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852160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446520" y="2670048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Fuga en el sello de la bomba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8732520" y="2670048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915400" y="2843784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915400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9509760" y="2670048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Manguera con roce y desgaste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0" y="3602736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852160" y="3776472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852160" y="3776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446520" y="3602736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Racor de alta presión flojo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8732520" y="3602736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915400" y="3776472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915400" y="3776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9509760" y="3602736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Manómetro fuera de rango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5669280" y="4535424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5852160" y="4709160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85216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6446520" y="4535424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 de lubricación seco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8732520" y="4535424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8915400" y="4709160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91540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51" name="Text 48"/>
          <p:cNvSpPr txBox="1"/>
          <p:nvPr/>
        </p:nvSpPr>
        <p:spPr>
          <a:xfrm>
            <a:off x="9509760" y="4535424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Overspray acumulado en rejilla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5669280" y="5468112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3" name="Shape 50"/>
          <p:cNvSpPr/>
          <p:nvPr/>
        </p:nvSpPr>
        <p:spPr>
          <a:xfrm>
            <a:off x="5852160" y="5641848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852160" y="5641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55" name="Text 52"/>
          <p:cNvSpPr txBox="1"/>
          <p:nvPr/>
        </p:nvSpPr>
        <p:spPr>
          <a:xfrm>
            <a:off x="6446520" y="5468112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 de identificación faltante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8732520" y="5468112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8915400" y="5641848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915400" y="5641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59" name="Text 56"/>
          <p:cNvSpPr txBox="1"/>
          <p:nvPr/>
        </p:nvSpPr>
        <p:spPr>
          <a:xfrm>
            <a:off x="9509760" y="5468112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Tornillo flojo en la carcasa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funcionó: Dojo AM de Betim Powertrain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dojo_betim_entranc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4069080" cy="2286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5" name="Image 1" descr="assets/dojo_betim_board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94760"/>
            <a:ext cx="4069080" cy="2286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4983480" y="1325880"/>
            <a:ext cx="2103120" cy="2286000"/>
          </a:xfrm>
          <a:prstGeom prst="roundRect">
            <a:avLst>
              <a:gd name="adj" fmla="val 5217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166360" y="16002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1.316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5166360" y="25603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empleados completaron el AM Game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251192" y="1325880"/>
            <a:ext cx="2103120" cy="2286000"/>
          </a:xfrm>
          <a:prstGeom prst="roundRect">
            <a:avLst>
              <a:gd name="adj" fmla="val 5217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434072" y="16002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11.992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7434072" y="25603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jugadas registradas, 9,1 por empleado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9518904" y="1325880"/>
            <a:ext cx="2103120" cy="2286000"/>
          </a:xfrm>
          <a:prstGeom prst="roundRect">
            <a:avLst>
              <a:gd name="adj" fmla="val 5217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701784" y="16002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+800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9701784" y="25603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capacitados del paso 0 al 3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983480" y="3794760"/>
            <a:ext cx="2103120" cy="2286000"/>
          </a:xfrm>
          <a:prstGeom prst="roundRect">
            <a:avLst>
              <a:gd name="adj" fmla="val 5217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166360" y="4069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+1.500</a:t>
            </a:r>
            <a:endParaRPr lang="en-US" sz="3600" dirty="0"/>
          </a:p>
        </p:txBody>
      </p:sp>
      <p:sp>
        <p:nvSpPr>
          <p:cNvPr id="17" name="Text 13"/>
          <p:cNvSpPr txBox="1"/>
          <p:nvPr/>
        </p:nvSpPr>
        <p:spPr>
          <a:xfrm>
            <a:off x="5166360" y="50292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visitas al Dojo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251192" y="3794760"/>
            <a:ext cx="2103120" cy="2286000"/>
          </a:xfrm>
          <a:prstGeom prst="roundRect">
            <a:avLst>
              <a:gd name="adj" fmla="val 5217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434072" y="4069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+23</a:t>
            </a:r>
            <a:endParaRPr lang="en-US" sz="3600" dirty="0"/>
          </a:p>
        </p:txBody>
      </p:sp>
      <p:sp>
        <p:nvSpPr>
          <p:cNvPr id="20" name="Text 16"/>
          <p:cNvSpPr txBox="1"/>
          <p:nvPr/>
        </p:nvSpPr>
        <p:spPr>
          <a:xfrm>
            <a:off x="7434072" y="50292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materiales de entrenamiento creados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9518904" y="3794760"/>
            <a:ext cx="2103120" cy="2286000"/>
          </a:xfrm>
          <a:prstGeom prst="roundRect">
            <a:avLst>
              <a:gd name="adj" fmla="val 5217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701784" y="4069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600" dirty="0"/>
          </a:p>
        </p:txBody>
      </p:sp>
      <p:sp>
        <p:nvSpPr>
          <p:cNvPr id="23" name="Text 19"/>
          <p:cNvSpPr txBox="1"/>
          <p:nvPr/>
        </p:nvSpPr>
        <p:spPr>
          <a:xfrm>
            <a:off x="9701784" y="50292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fábrica recibió el material de los pasos 0 a 4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 modelo, adaptado a los equipos y a los problemas de Pintura.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implementación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697480" cy="731520"/>
          </a:xfrm>
          <a:prstGeom prst="homePlat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25146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8" name="Image 0" descr="icons/m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264033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el espacio físico y el layout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los problemas prioritarios con Mantenimiento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Formar a los multiplicadores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46704" y="1325880"/>
            <a:ext cx="2697480" cy="731520"/>
          </a:xfrm>
          <a:prstGeom prst="chevron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12464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346704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75304" y="2514600"/>
            <a:ext cx="502920" cy="502920"/>
          </a:xfrm>
          <a:prstGeom prst="ellipse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5" name="Image 1" descr="icons/cog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034" y="2640330"/>
            <a:ext cx="251460" cy="2514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215384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575304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Fabricar las 4 maquetas con componentes reales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contenido y estándares LLA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el AM Game a Pintura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44768" y="1325880"/>
            <a:ext cx="2697480" cy="731520"/>
          </a:xfrm>
          <a:prstGeom prst="chevron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10528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144768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73368" y="2514600"/>
            <a:ext cx="502920" cy="502920"/>
          </a:xfrm>
          <a:prstGeom prst="ellipse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pic>
        <p:nvPicPr>
          <p:cNvPr id="22" name="Image 2" descr="icons/rocke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098" y="2640330"/>
            <a:ext cx="251460" cy="2514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013448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6373368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 grupo de operarios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Ajustar tiempos y dificultad de los juegos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resultados iniciales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8942832" y="1325880"/>
            <a:ext cx="2697480" cy="731520"/>
          </a:xfrm>
          <a:prstGeom prst="chevron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308592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942832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9171432" y="25146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9" name="Image 3" descr="icons/chart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7162" y="2640330"/>
            <a:ext cx="251460" cy="25146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811512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Despliegue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9171432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los turnos y líneas de Pintura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y reconocimiento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 de indicadores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NECESITAMOS PARA ARRANCAR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548640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4" name="Image 4" descr="icons/building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669280"/>
            <a:ext cx="411480" cy="41148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280160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Espacio físico dentro de la unidad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3346704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7" name="Image 5" descr="icons/tools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9584" y="5669280"/>
            <a:ext cx="411480" cy="41148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4078224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Componentes reales para las maquetas</a:t>
            </a:r>
            <a:endParaRPr lang="en-US" sz="1150" dirty="0"/>
          </a:p>
        </p:txBody>
      </p:sp>
      <p:sp>
        <p:nvSpPr>
          <p:cNvPr id="39" name="Shape 31"/>
          <p:cNvSpPr/>
          <p:nvPr/>
        </p:nvSpPr>
        <p:spPr>
          <a:xfrm>
            <a:off x="6144768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40" name="Image 6" descr="icons/users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5669280"/>
            <a:ext cx="411480" cy="41148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6876288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Multiplicadores del área</a:t>
            </a:r>
            <a:endParaRPr lang="en-US" sz="1150" dirty="0"/>
          </a:p>
        </p:txBody>
      </p:sp>
      <p:sp>
        <p:nvSpPr>
          <p:cNvPr id="42" name="Shape 33"/>
          <p:cNvSpPr/>
          <p:nvPr/>
        </p:nvSpPr>
        <p:spPr>
          <a:xfrm>
            <a:off x="8942832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43" name="Image 7" descr="icons/clock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5712" y="5669280"/>
            <a:ext cx="411480" cy="41148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674352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Liberación de operarios por turno</a:t>
            </a:r>
            <a:endParaRPr lang="en-US" sz="1150" dirty="0"/>
          </a:p>
        </p:txBody>
      </p:sp>
      <p:sp>
        <p:nvSpPr>
          <p:cNvPr id="45" name="Text 35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sabremos que funciona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206240" cy="4983480"/>
          </a:xfrm>
          <a:prstGeom prst="roundRect">
            <a:avLst>
              <a:gd name="adj" fmla="val 2609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6" name="Image 0" descr="icons/target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8745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6060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01752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Producción resuelva lo básico y Mantenimiento se dedique a lo complejo.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8463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indicadores se miden antes del piloto (línea base) y cada mes después del despliegue.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0" y="132588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212080" y="149961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gra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636776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943600" y="143560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Operarios certificados en los pasos 1 a 3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5943600" y="175564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Porcentaje sobre el total de la unidad, por turno y por línea.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029200" y="233172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212080" y="250545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7" name="Image 2" descr="icons/gamepa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642616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943600" y="244144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Participación en los juegos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5943600" y="276148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Jugadas del AM Game, equipos en la Fórmula 1 AM y puntaje en la Caza de Anomalías.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029200" y="333756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212080" y="351129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2" name="Image 3" descr="icons/tag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364845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943600" y="344728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por operarios</a:t>
            </a:r>
            <a:endParaRPr lang="en-US" sz="1350" dirty="0"/>
          </a:p>
        </p:txBody>
      </p:sp>
      <p:sp>
        <p:nvSpPr>
          <p:cNvPr id="24" name="Text 18"/>
          <p:cNvSpPr txBox="1"/>
          <p:nvPr/>
        </p:nvSpPr>
        <p:spPr>
          <a:xfrm>
            <a:off x="5943600" y="376732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Etiquetas abiertas y cerradas por Producción, no por Mantenimiento.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029200" y="434340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5212080" y="451713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7" name="Image 4" descr="icons/wrench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4654296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943600" y="44531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Intervenciones básicas resueltas por Producción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5943600" y="477316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Limpiezas de pistola, cambios de filtro y aprietes sin llamar a Mantenimiento.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5029200" y="534924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5212080" y="552297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2" name="Image 5" descr="icons/bolt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240" y="5660136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943600" y="54589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Paradas por causas básicas</a:t>
            </a:r>
            <a:endParaRPr lang="en-US" sz="1350" dirty="0"/>
          </a:p>
        </p:txBody>
      </p:sp>
      <p:sp>
        <p:nvSpPr>
          <p:cNvPr id="34" name="Text 26"/>
          <p:cNvSpPr txBox="1"/>
          <p:nvPr/>
        </p:nvSpPr>
        <p:spPr>
          <a:xfrm>
            <a:off x="5943600" y="577900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Minutos perdidos por pistola tapada, filtro saturado o fuga, antes y después del Dojo.</a:t>
            </a:r>
            <a:endParaRPr 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dojo_betim_entrance.jpg">    </p:cNvPr>
          <p:cNvPicPr>
            <a:picLocks noChangeAspect="1"/>
          </p:cNvPicPr>
          <p:nvPr/>
        </p:nvPicPr>
        <p:blipFill>
          <a:blip r:embed="rId2">
            <a:alphaModFix amt="1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463040"/>
            <a:ext cx="7772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 aprendemos, practicamos </a:t>
            </a:r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crecemos juntos.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657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de Mantenimiento Autónomo · Unidad Pintura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731520" y="4480560"/>
            <a:ext cx="6766560" cy="1097280"/>
          </a:xfrm>
          <a:prstGeom prst="roundRect">
            <a:avLst>
              <a:gd name="adj" fmla="val 1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6" name="Image 1" descr="icons/rocket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800600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448056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el espacio y arrancar la Fase 1 · Diseño, junto con Mantenimiento y los multiplicadores del área.</a:t>
            </a:r>
            <a:endParaRPr lang="en-US" sz="1400" dirty="0"/>
          </a:p>
        </p:txBody>
      </p:sp>
      <p:pic>
        <p:nvPicPr>
          <p:cNvPr id="8" name="Image 2" descr="assets/masc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3017520"/>
            <a:ext cx="2011680" cy="3017520"/>
          </a:xfrm>
          <a:prstGeom prst="rect">
            <a:avLst/>
          </a:prstGeom>
        </p:spPr>
      </p:pic>
      <p:pic>
        <p:nvPicPr>
          <p:cNvPr id="9" name="Image 3" descr="assets/am_logo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806440"/>
            <a:ext cx="868680" cy="8046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Dojo de Mantenimiento Autónomo – Unidad Pintura</dc:title>
  <dc:subject>PptxGenJS Presentation</dc:subject>
  <dc:creator>Stellantis – Unidad Pintura</dc:creator>
  <cp:lastModifiedBy>Stellantis – Unidad Pintura</cp:lastModifiedBy>
  <cp:revision>1</cp:revision>
  <dcterms:created xsi:type="dcterms:W3CDTF">2026-09-04T13:09:04Z</dcterms:created>
  <dcterms:modified xsi:type="dcterms:W3CDTF">2026-09-04T13:09:04Z</dcterms:modified>
</cp:coreProperties>
</file>