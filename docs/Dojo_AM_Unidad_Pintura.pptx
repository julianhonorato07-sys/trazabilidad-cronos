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Propuesta para crear el Dojo de Mantenimiento Autónomo de la Unidad Pintura. Un espacio físico donde los operarios aprenden haciendo. Es el mismo modelo que ya funcionó en Betim Powertrain.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es que los operarios dejen de depender de Mantenimiento para cosas básicas y se vuelvan dueños de su propio puesto. Mantenimiento se libera para las fallas complejas.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Dojo desarrolla personas con aprendizaje práctico, accesible y estructurado. Aquí aprendemos, practicamos y crecemos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Dojo se enseñan los 3 primeros pasos del Mantenimiento Autónomo: limpieza inicial, eliminación de fuentes de suciedad y creación de estándares de limpieza, lubricación y apriete.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problemas reales de Pintura: pistolas tapadas, filtros saturados, bombas con fugas, mangueras de alta presión y overspray en cabina. Cada uno se conecta con los pasos del AM que lo resuelven.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estaciones prácticas, cada una con una maqueta real: aplicación, circulación de pintura, mangueras de alta presión y cabina. Los operarios rotan por las cuatro.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de una sesión en seis pasos: evaluación inicial, bienvenida con los tótems, rotación por estaciones con tres juegos prácticos, evaluación final, compromiso y certificación. El formato de grupos y duración es una propuesta a ajustar en el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 de la sesión: evaluación inicial con el AM Game en la PC. No aprueba ni desaprueba, sirve como línea base para comparar con la evaluación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2: bienvenida. El multiplicador recorre los cinco tótems con el grupo: qué es el AM, la visión general de los pasos 0 a 4 y el detalle de los pasos 1, 2 y 3, en lenguaje simple y con ejemplos de la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3: rotación por estaciones con tres juegos prácticos. Juego 1, acomodar y clasificar los objetos. Juego 2, limpieza de la maqueta. Juego 3, video donde el operario identifica diez cosas que se hicieron mal en el ciclo de limpieza.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Pasos 4 a 6: evaluación final con el mismo AM Game para verificar lo aprendido, compromiso personal de aplicación en el puesto y entrega del certificado con registro en la matriz de habilidades.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fases: diseño, construcción, piloto y despliegue. Para arrancar necesitamos el espacio, componentes reales, multiplicadores y tiempo de los operarios.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Cronograma con avance real al 18 de septiembre. Fase 1 de diseño cerrada salvo las evaluaciones teóricas al 70%. Fase 2 en curso: falta completar la recopilación de herramientas, la identificación de elementos y el prototipo de stands y pasaporte. Piloto en Overview del 7 al 18 de octubre, implementación del 15 al 29 de octubre, validación con Gerencia, Calidad y Producción el 22 y seguimiento hasta el 6 de noviembre.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Indicadores propuestos: operarios certificados, participación en los juegos, anomalías detectadas por operarios, intervenciones básicas resueltas por Producción y paradas por causas básicas.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Dojo es un espacio para aprender, practicar y crecer juntos. El próximo paso es aprobar el espacio y arrancar la fase de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image" Target="../media/image-10-5.jp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dojo_betim_entranc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57607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03142F">
              <a:alpha val="65000"/>
            </a:srgbClr>
          </a:solidFill>
          <a:ln w="12700">
            <a:solidFill>
              <a:srgbClr val="03142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30936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4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 ·  UNIDAD PINTURA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5544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DOJO DE MANTENIMIENTO AUTÓNOMO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3703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haciendo: operarios dueños de su propio puesto.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</a:t>
            </a:r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Unidad Pintura  ·  Manutenção Autônoma</a:t>
            </a:r>
            <a:endParaRPr lang="en-US" sz="1300" dirty="0"/>
          </a:p>
        </p:txBody>
      </p:sp>
      <p:pic>
        <p:nvPicPr>
          <p:cNvPr id="8" name="Image 1" descr="assets/am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5394960"/>
            <a:ext cx="1143000" cy="1060704"/>
          </a:xfrm>
          <a:prstGeom prst="rect">
            <a:avLst/>
          </a:prstGeom>
        </p:spPr>
      </p:pic>
      <p:pic>
        <p:nvPicPr>
          <p:cNvPr id="9" name="Image 2" descr="assets/masc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4434840"/>
            <a:ext cx="1371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un Dojo en Pintura?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Hoy, muchas paradas cortas dependen de Mantenimiento para tareas que el operario puede resolver.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66360" cy="4572000"/>
          </a:xfrm>
          <a:prstGeom prst="roundRect">
            <a:avLst>
              <a:gd name="adj" fmla="val 24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8" name="Image 0" descr="icons/exclam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6403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24963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de Mantenimiento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7889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limpiar una pistola, cambiar un filtro o apretar una conexión.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12" name="Image 1" descr="icons/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35547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4107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Paradas cortas y repetitivas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600200" y="37033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pistolas tapadas, filtros saturados y fugas en bombas.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68680" y="4343400"/>
            <a:ext cx="502920" cy="50292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16" name="Image 2" descr="icons/ey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44691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325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Anomalías detectadas tarde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6177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ya generaron un defecto de pintura o una parada.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20" name="Image 3" descr="icons/us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538353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52395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Conocimiento en pocas personas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600200" y="55321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estándares visibles en el puesto de trabajo.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532120" y="3657600"/>
            <a:ext cx="685800" cy="68580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24" name="Image 4" descr="icons/arrow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570" y="3829050"/>
            <a:ext cx="342900" cy="3429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492240" y="1691640"/>
            <a:ext cx="5148072" cy="4572000"/>
          </a:xfrm>
          <a:prstGeom prst="roundRect">
            <a:avLst>
              <a:gd name="adj" fmla="val 2400"/>
            </a:avLst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19"/>
          <p:cNvSpPr txBox="1"/>
          <p:nvPr/>
        </p:nvSpPr>
        <p:spPr>
          <a:xfrm>
            <a:off x="681228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A4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DOJO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6812280" y="2514600"/>
            <a:ext cx="502920" cy="5029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28" name="Image 5" descr="icons/user_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8010" y="2640330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543800" y="24963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operario es dueño de su puesto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7543800" y="27889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limpia, inspecciona y resuelve lo básico por sí mismo.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812280" y="3429000"/>
            <a:ext cx="502920" cy="5029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32" name="Image 6" descr="icons/clipboard_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8010" y="3554730"/>
            <a:ext cx="251460" cy="25146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543800" y="34107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Limpieza, lubricación y apriete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7543800" y="37033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rutina estandarizada en cada turno.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812280" y="4343400"/>
            <a:ext cx="502920" cy="5029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36" name="Image 7" descr="icons/search_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8010" y="4469130"/>
            <a:ext cx="251460" cy="25146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543800" y="4325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Anomalías detectadas temprano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7543800" y="46177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etiquetadas y resueltas antes de convertirse en falla.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6812280" y="5257800"/>
            <a:ext cx="502920" cy="5029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40" name="Image 8" descr="icons/tools_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8010" y="5383530"/>
            <a:ext cx="251460" cy="25146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543800" y="52395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enfocado en lo complejo</a:t>
            </a:r>
            <a:endParaRPr lang="en-US" sz="1400" dirty="0"/>
          </a:p>
        </p:txBody>
      </p:sp>
      <p:sp>
        <p:nvSpPr>
          <p:cNvPr id="42" name="Text 31"/>
          <p:cNvSpPr txBox="1"/>
          <p:nvPr/>
        </p:nvSpPr>
        <p:spPr>
          <a:xfrm>
            <a:off x="7543800" y="55321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fallas mayores, mejoras y confiabilidad.</a:t>
            </a:r>
            <a:endParaRPr lang="en-US" sz="1200" dirty="0"/>
          </a:p>
        </p:txBody>
      </p:sp>
      <p:sp>
        <p:nvSpPr>
          <p:cNvPr id="43" name="Text 32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Dojo de AM?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pic>
        <p:nvPicPr>
          <p:cNvPr id="4" name="Image 0" descr="assets/dojo_betim_w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846320" cy="272491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Dojo AM de Betim Powertrain, referencia del modelo.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4526280"/>
            <a:ext cx="4846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470916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espacio físico de entrenamiento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la unidad, donde los operarios de producción aprenden haciendo, con las manos en la masa, sobre maquetas reales de los equipos de Pintura.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52160" y="1325880"/>
            <a:ext cx="277063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26480" y="1554480"/>
            <a:ext cx="594360" cy="59436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10" name="Image 1" descr="icons/targe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070" y="170307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2648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conocimiento en habilidades: el operario hace, no solo escucha.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869680" y="1325880"/>
            <a:ext cx="277063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0" y="1554480"/>
            <a:ext cx="594360" cy="59436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15" name="Image 2" descr="icons/boo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590" y="170307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lo hacemos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144000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simple y práctico, estándares accesibles y aprendizaje continuo.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852160" y="3931920"/>
            <a:ext cx="277063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4160520"/>
            <a:ext cx="594360" cy="59436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20" name="Image 3" descr="icons/char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070" y="430911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126480" y="4846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126480" y="55046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viva de patrones y buenas prácticas que se adapta a los desafíos de la planta.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869680" y="3931920"/>
            <a:ext cx="277063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44000" y="4160520"/>
            <a:ext cx="594360" cy="59436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25" name="Image 4" descr="icons/handshak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590" y="430911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44000" y="4846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colaborativa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9144000" y="55046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Líderes de área y multiplicadores definen prioridades y guían el desarrollo del equipo.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3 primeros pasos del AM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van a aprender los operarios en el Dojo, paso a paso.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11880" cy="868680"/>
          </a:xfrm>
          <a:prstGeom prst="homePlat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3258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9" name="Image 0" descr="icons/broom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2651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inicial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Limpiar es inspeccionar.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840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profunda del equipo, con las manos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y etiquetar anomalías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Restablecer las condiciones básicas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5074920"/>
            <a:ext cx="3063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4" name="Image 1" descr="icons/check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17550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80160" y="5074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limpio y anomalías etiquetadas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297680" y="1325880"/>
            <a:ext cx="3611880" cy="868680"/>
          </a:xfrm>
          <a:prstGeom prst="chevron">
            <a:avLst/>
          </a:prstGeom>
          <a:solidFill>
            <a:srgbClr val="079CCE"/>
          </a:solidFill>
          <a:ln w="12700">
            <a:solidFill>
              <a:srgbClr val="079CC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754880" y="13258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4297680" y="242316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0" y="2697480"/>
            <a:ext cx="548640" cy="548640"/>
          </a:xfrm>
          <a:prstGeom prst="ellipse">
            <a:avLst/>
          </a:prstGeom>
          <a:solidFill>
            <a:srgbClr val="079CCE"/>
          </a:solidFill>
          <a:ln w="12700">
            <a:solidFill>
              <a:srgbClr val="079CCE"/>
            </a:solidFill>
            <a:prstDash val="solid"/>
          </a:ln>
        </p:spPr>
      </p:sp>
      <p:pic>
        <p:nvPicPr>
          <p:cNvPr id="20" name="Image 2" descr="icons/search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8346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57800" y="2651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fuentes de suciedad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Atacar la causa, no el síntoma.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0" y="3840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de dónde viene la suciedad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Contener o eliminar la fuente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Facilitar el acceso para limpiar e inspeccionar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572000" y="5074920"/>
            <a:ext cx="3063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25" name="Image 3" descr="icons/check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517550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029200" y="5074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suciedad eliminadas o contenidas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046720" y="1325880"/>
            <a:ext cx="3611880" cy="868680"/>
          </a:xfrm>
          <a:prstGeom prst="chevron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503920" y="13258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8046720" y="242316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321040" y="2697480"/>
            <a:ext cx="548640" cy="54864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31" name="Image 4" descr="icons/clipboard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8346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006840" y="2651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de limpieza, lubricación y apriete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83210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la rutina no dependa de la memoria.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8321040" y="3840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qué, cómo, cuándo y quién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visual en el puesto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en cada turno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321040" y="5074920"/>
            <a:ext cx="3063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36" name="Image 5" descr="icons/check_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5175504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778240" y="5074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LLA visible en el puesto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E3F4FB"/>
          </a:solidFill>
          <a:ln w="12700">
            <a:solidFill>
              <a:srgbClr val="E3F4FB"/>
            </a:solidFill>
            <a:prstDash val="solid"/>
          </a:ln>
        </p:spPr>
      </p:sp>
      <p:pic>
        <p:nvPicPr>
          <p:cNvPr id="39" name="Image 6" descr="icons/target_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6007608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188720" y="58978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Paso 0.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de KPIs y priorización de máquinas, definidas junto con Mantenimiento antes de entrar al Dojo.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Aplicado a problemas reales de Pintura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teoría abstracta: cada paso se practica sobre lo que el operario ve todos los días en su línea.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03120" cy="43434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011680"/>
            <a:ext cx="822960" cy="82296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7" name="Image 0" descr="icons/spray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22174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Pistolas tapadas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5760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Boquillas y agujas obstruidas por pintura seca. Se practica desmontaje, limpieza y verificación del patrón de aplicación.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55321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3F4FB"/>
          </a:solidFill>
          <a:ln w="12700">
            <a:solidFill>
              <a:srgbClr val="E3F4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5532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· 3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98064" y="1737360"/>
            <a:ext cx="2103120" cy="43434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38144" y="2011680"/>
            <a:ext cx="822960" cy="82296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14" name="Image 1" descr="icons/filter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884" y="22174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80944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saturados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980944" y="365760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Caída de presión y defectos por filtros colmatados. Se practica inspección, cambio y registro de la frecuencia.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55264" y="55321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3F4FB"/>
          </a:solidFill>
          <a:ln w="12700">
            <a:solidFill>
              <a:srgbClr val="E3F4F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255264" y="5532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· 3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047488" y="1737360"/>
            <a:ext cx="2103120" cy="43434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687568" y="2011680"/>
            <a:ext cx="822960" cy="82296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21" name="Image 2" descr="icons/pump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08" y="22174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30368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Bombas con fugas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230368" y="365760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Fugas en sellos y conexiones que ensucian y desperdician pintura. Se practica detección, etiquetado y apriete correcto.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504688" y="55321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3F4FB"/>
          </a:solidFill>
          <a:ln w="12700">
            <a:solidFill>
              <a:srgbClr val="E3F4F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504688" y="5532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· 2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296912" y="1737360"/>
            <a:ext cx="2103120" cy="43434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936992" y="2011680"/>
            <a:ext cx="822960" cy="82296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28" name="Image 3" descr="icons/hose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732" y="221742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479792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Mangueras de alta presión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7479792" y="365760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Desgaste, roces y conexiones flojas con riesgo para la seguridad. Se practica inspección, rutas y apriete seguro.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754112" y="55321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3F4FB"/>
          </a:solidFill>
          <a:ln w="12700">
            <a:solidFill>
              <a:srgbClr val="E3F4FB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754112" y="5532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2 · 3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9546336" y="1737360"/>
            <a:ext cx="2103120" cy="43434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186416" y="2011680"/>
            <a:ext cx="822960" cy="82296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35" name="Image 4" descr="icons/wind_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2156" y="2217420"/>
            <a:ext cx="411480" cy="41148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729216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Overspray en cabina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9729216" y="365760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Pintura pulverizada acumulada en rejillas, paredes y equipos. Se practica limpieza inicial y eliminación de la fuente.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10003536" y="55321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3F4FB"/>
          </a:solidFill>
          <a:ln w="12700">
            <a:solidFill>
              <a:srgbClr val="E3F4F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0003536" y="5532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· 2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estaciones prácticas con maquetas reales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A4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691640" y="1554480"/>
            <a:ext cx="548640" cy="54864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7" name="Image 0" descr="icons/spra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916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77440" y="1508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Aplicación: pistolas y atomizadores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Maqueta: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Pistola y atomizador reales montados en banco, con aire comprimido.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889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Practican: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Desmontaje, limpieza de boquilla y aguja, montaje, prueba del patrón de aplicación y estándar de limpieza al fin de turno.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0" y="32461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· 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132588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46520" y="1508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A4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7360920" y="1554480"/>
            <a:ext cx="548640" cy="54864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16" name="Image 1" descr="icons/pum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6916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046720" y="1508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Circulación: filtros y bombas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46520" y="2286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Maqueta: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de bomba con filtros, manómetros y puntos de fuga simulados.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27889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Practican: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 presión diferencial, cambio de filtro, detección y etiquetado de fugas, lubricación de los puntos definidos.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10241280" y="32461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241280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· 2 · 3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393192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77724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A4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Shape 20"/>
          <p:cNvSpPr/>
          <p:nvPr/>
        </p:nvSpPr>
        <p:spPr>
          <a:xfrm>
            <a:off x="1691640" y="4160520"/>
            <a:ext cx="548640" cy="54864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25" name="Image 2" descr="icons/hos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29768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377440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Mangueras y conexiones de alta presión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777240" y="4892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Maqueta: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con mangueras, racores y conexiones en distintos estados de desgaste.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777240" y="53949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Practican: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de roces y desgaste, apriete con el torque correcto, despresurización y bloqueo seguro antes de intervenir.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4572000" y="58521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572000" y="5852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2 · 3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217920" y="393192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7"/>
          <p:cNvSpPr txBox="1"/>
          <p:nvPr/>
        </p:nvSpPr>
        <p:spPr>
          <a:xfrm>
            <a:off x="644652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A4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33" name="Shape 28"/>
          <p:cNvSpPr/>
          <p:nvPr/>
        </p:nvSpPr>
        <p:spPr>
          <a:xfrm>
            <a:off x="7360920" y="4160520"/>
            <a:ext cx="548640" cy="54864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34" name="Image 3" descr="icons/win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297680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046720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Cabina y overspray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6446520" y="4892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Maqueta: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de cabina a escala con rejillas, paredes y plenum.</a:t>
            </a:r>
            <a:endParaRPr lang="en-US" sz="1150" dirty="0"/>
          </a:p>
        </p:txBody>
      </p:sp>
      <p:sp>
        <p:nvSpPr>
          <p:cNvPr id="37" name="Text 31"/>
          <p:cNvSpPr txBox="1"/>
          <p:nvPr/>
        </p:nvSpPr>
        <p:spPr>
          <a:xfrm>
            <a:off x="6446520" y="53949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Practican: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inicial, identificar de dónde viene el overspray, contener la fuente y definir la frecuencia de limpieza.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10241280" y="58521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10241280" y="5852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· 2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 una sesión en el Dojo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470660" y="2446020"/>
            <a:ext cx="9220200" cy="0"/>
          </a:xfrm>
          <a:prstGeom prst="line">
            <a:avLst/>
          </a:prstGeom>
          <a:noFill/>
          <a:ln w="381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320" y="2011680"/>
            <a:ext cx="868680" cy="86868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6" name="Image 0" descr="icons/clipbo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490" y="2228850"/>
            <a:ext cx="434340" cy="4343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7780" y="16002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2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877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063240"/>
            <a:ext cx="175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inicial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03320"/>
            <a:ext cx="1661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digital al llegar: mide la línea base de cada operario.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80360" y="2011680"/>
            <a:ext cx="868680" cy="86868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12" name="Image 1" descr="icons/hardha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2228850"/>
            <a:ext cx="434340" cy="4343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31820" y="16002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2A5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1318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438400" y="3063240"/>
            <a:ext cx="175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Bienvenida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484120" y="3703320"/>
            <a:ext cx="1661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por los tótems: qué es el AM y los pasos 1, 2 y 3.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24400" y="2011680"/>
            <a:ext cx="868680" cy="86868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18" name="Image 2" descr="icons/tools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570" y="2228850"/>
            <a:ext cx="434340" cy="43434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975860" y="16002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2A5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9758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282440" y="3063240"/>
            <a:ext cx="175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 por estaciones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328160" y="3703320"/>
            <a:ext cx="1661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juegos prácticos: clasificar objetos, limpiar la maqueta y el video de los 10 errores.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568440" y="2011680"/>
            <a:ext cx="868680" cy="86868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24" name="Image 3" descr="icons/gamepa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610" y="2228850"/>
            <a:ext cx="434340" cy="4343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819900" y="16002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2A5B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199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126480" y="3063240"/>
            <a:ext cx="175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final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172200" y="3703320"/>
            <a:ext cx="1661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quiz que al inicio, para medir lo aprendido.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8412480" y="2011680"/>
            <a:ext cx="868680" cy="86868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30" name="Image 4" descr="icons/lightbulb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0" y="2228850"/>
            <a:ext cx="434340" cy="43434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663940" y="16002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2A5B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6639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7970520" y="3063240"/>
            <a:ext cx="175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8016240" y="3703320"/>
            <a:ext cx="1661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operario define qué aplica mañana en su puesto.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10256520" y="2011680"/>
            <a:ext cx="868680" cy="86868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36" name="Image 5" descr="icons/medal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3690" y="2228850"/>
            <a:ext cx="434340" cy="43434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10507980" y="16002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2A5B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105079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9814560" y="3063240"/>
            <a:ext cx="175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Certificación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9860280" y="3703320"/>
            <a:ext cx="1661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 y registro en la matriz de habilidades.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2296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PROPUESTO</a:t>
            </a:r>
            <a:endParaRPr lang="en-US" sz="1000" dirty="0"/>
          </a:p>
        </p:txBody>
      </p:sp>
      <p:pic>
        <p:nvPicPr>
          <p:cNvPr id="43" name="Image 6" descr="icons/users_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623560"/>
            <a:ext cx="365760" cy="36576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325880" y="5577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de 8 a 10 operarios</a:t>
            </a:r>
            <a:endParaRPr lang="en-US" sz="1200" dirty="0"/>
          </a:p>
        </p:txBody>
      </p:sp>
      <p:pic>
        <p:nvPicPr>
          <p:cNvPr id="45" name="Image 7" descr="icons/clock_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5623560"/>
            <a:ext cx="365760" cy="36576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4069080" y="5577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turno por sesión</a:t>
            </a:r>
            <a:endParaRPr lang="en-US" sz="1200" dirty="0"/>
          </a:p>
        </p:txBody>
      </p:sp>
      <p:pic>
        <p:nvPicPr>
          <p:cNvPr id="47" name="Image 8" descr="icons/user_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5623560"/>
            <a:ext cx="365760" cy="36576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812280" y="5577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Guiado por multiplicadores del área</a:t>
            </a:r>
            <a:endParaRPr lang="en-US" sz="1200" dirty="0"/>
          </a:p>
        </p:txBody>
      </p:sp>
      <p:pic>
        <p:nvPicPr>
          <p:cNvPr id="49" name="Image 9" descr="icons/sync_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5623560"/>
            <a:ext cx="365760" cy="365760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9555480" y="5577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Repetible para todos los turnos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Evaluación inicial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572000" cy="49834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6" name="Image 0" descr="icons/clipbo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600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antes de enseñar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llegar al Dojo, cada operario responde el AM Game en la PC, antes de cualquier explicación.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digital con preguntas sobre limpieza, inspección, lubricación y apriete.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nota de aprobación: es la línea base de cada persona.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quiz se repite al final de la sesión para medir el avance.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registrado por operario, por turno y por línea.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580644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E3F4FB"/>
          </a:solidFill>
          <a:ln w="12700">
            <a:solidFill>
              <a:srgbClr val="E3F4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806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· INDIVIDUAL · 10 MIN</a:t>
            </a:r>
            <a:endParaRPr lang="en-US" sz="1000" dirty="0"/>
          </a:p>
        </p:txBody>
      </p:sp>
      <p:pic>
        <p:nvPicPr>
          <p:cNvPr id="12" name="Image 1" descr="assets/eval_p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40680" y="1325880"/>
            <a:ext cx="3246120" cy="385876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pic>
        <p:nvPicPr>
          <p:cNvPr id="13" name="Image 2" descr="assets/eval_scre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69680" y="1325880"/>
            <a:ext cx="2770632" cy="1554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14" name="Shape 9"/>
          <p:cNvSpPr/>
          <p:nvPr/>
        </p:nvSpPr>
        <p:spPr>
          <a:xfrm>
            <a:off x="8869680" y="3063240"/>
            <a:ext cx="2770632" cy="2121408"/>
          </a:xfrm>
          <a:prstGeom prst="roundRect">
            <a:avLst>
              <a:gd name="adj" fmla="val 5172"/>
            </a:avLst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9052560" y="32004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del AM Game: pregunta, respuestas y barra de avance por pasos. Misma herramienta que en Betim, con preguntas de Pintura.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440680" y="525780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inicial en la PC del Dojo. Fotos de referencia.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Bienvenida: recorrido por los tótems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pic>
        <p:nvPicPr>
          <p:cNvPr id="4" name="Image 0" descr="assets/room_totem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325880"/>
            <a:ext cx="5440680" cy="405993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pic>
        <p:nvPicPr>
          <p:cNvPr id="5" name="Image 1" descr="assets/room_peop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9632" y="1325880"/>
            <a:ext cx="5440680" cy="405993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48640" y="54406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sector de Pintura con los 5 tótems de AM.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6199632" y="54406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multiplicador recorre los tótems con el grupo.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48640" y="5806440"/>
            <a:ext cx="2103120" cy="548640"/>
          </a:xfrm>
          <a:prstGeom prst="roundRect">
            <a:avLst>
              <a:gd name="adj" fmla="val 20000"/>
            </a:avLst>
          </a:prstGeom>
          <a:solidFill>
            <a:srgbClr val="0B3A73"/>
          </a:solidFill>
          <a:ln w="12700">
            <a:solidFill>
              <a:srgbClr val="0B3A73"/>
            </a:solidFill>
            <a:prstDash val="solid"/>
          </a:ln>
        </p:spPr>
      </p:sp>
      <p:pic>
        <p:nvPicPr>
          <p:cNvPr id="9" name="Image 2" descr="icons/boo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925312"/>
            <a:ext cx="310896" cy="31089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97280" y="5806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el AM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2788920" y="5806440"/>
            <a:ext cx="2103120" cy="548640"/>
          </a:xfrm>
          <a:prstGeom prst="roundRect">
            <a:avLst>
              <a:gd name="adj" fmla="val 20000"/>
            </a:avLst>
          </a:prstGeom>
          <a:solidFill>
            <a:srgbClr val="0B3A73"/>
          </a:solidFill>
          <a:ln w="12700">
            <a:solidFill>
              <a:srgbClr val="0B3A73"/>
            </a:solidFill>
            <a:prstDash val="solid"/>
          </a:ln>
        </p:spPr>
      </p:sp>
      <p:pic>
        <p:nvPicPr>
          <p:cNvPr id="12" name="Image 3" descr="icons/list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5925312"/>
            <a:ext cx="310896" cy="31089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337560" y="5806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0 a 4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5029200" y="5806440"/>
            <a:ext cx="2103120" cy="548640"/>
          </a:xfrm>
          <a:prstGeom prst="roundRect">
            <a:avLst>
              <a:gd name="adj" fmla="val 20000"/>
            </a:avLst>
          </a:prstGeom>
          <a:solidFill>
            <a:srgbClr val="0B3A73"/>
          </a:solidFill>
          <a:ln w="12700">
            <a:solidFill>
              <a:srgbClr val="0B3A73"/>
            </a:solidFill>
            <a:prstDash val="solid"/>
          </a:ln>
        </p:spPr>
      </p:sp>
      <p:pic>
        <p:nvPicPr>
          <p:cNvPr id="15" name="Image 4" descr="icons/broom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5925312"/>
            <a:ext cx="310896" cy="31089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577840" y="5806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7269480" y="5806440"/>
            <a:ext cx="2103120" cy="548640"/>
          </a:xfrm>
          <a:prstGeom prst="roundRect">
            <a:avLst>
              <a:gd name="adj" fmla="val 20000"/>
            </a:avLst>
          </a:prstGeom>
          <a:solidFill>
            <a:srgbClr val="0B3A73"/>
          </a:solidFill>
          <a:ln w="12700">
            <a:solidFill>
              <a:srgbClr val="0B3A73"/>
            </a:solidFill>
            <a:prstDash val="solid"/>
          </a:ln>
        </p:spPr>
      </p:sp>
      <p:pic>
        <p:nvPicPr>
          <p:cNvPr id="18" name="Image 5" descr="icons/search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5925312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818120" y="5806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9509760" y="5806440"/>
            <a:ext cx="2103120" cy="548640"/>
          </a:xfrm>
          <a:prstGeom prst="roundRect">
            <a:avLst>
              <a:gd name="adj" fmla="val 20000"/>
            </a:avLst>
          </a:prstGeom>
          <a:solidFill>
            <a:srgbClr val="0B3A73"/>
          </a:solidFill>
          <a:ln w="12700">
            <a:solidFill>
              <a:srgbClr val="0B3A73"/>
            </a:solidFill>
            <a:prstDash val="solid"/>
          </a:ln>
        </p:spPr>
      </p:sp>
      <p:pic>
        <p:nvPicPr>
          <p:cNvPr id="21" name="Image 6" descr="icons/clipboard_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0" y="5925312"/>
            <a:ext cx="310896" cy="31089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058400" y="5806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</a:t>
            </a:r>
            <a:endParaRPr lang="en-US" sz="1150" dirty="0"/>
          </a:p>
        </p:txBody>
      </p:sp>
      <p:sp>
        <p:nvSpPr>
          <p:cNvPr id="23" name="Text 14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Rotación por estaciones: 3 juegos prácticos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29584" cy="4983480"/>
          </a:xfrm>
          <a:prstGeom prst="roundRect">
            <a:avLst>
              <a:gd name="adj" fmla="val 31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assets/game1_tool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08760"/>
            <a:ext cx="3163824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7" name="Image 1" descr="icons/tools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419481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40233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1 · Acomodar y clasificar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70916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Separar, ordenar e identificar las herramientas y consumibles del puesto: lo que sirve, lo que sobra y lo que falta.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8521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· PASO 3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315968" y="1325880"/>
            <a:ext cx="3529584" cy="4983480"/>
          </a:xfrm>
          <a:prstGeom prst="roundRect">
            <a:avLst>
              <a:gd name="adj" fmla="val 31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assets/game2_maquet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98848" y="1508760"/>
            <a:ext cx="3163824" cy="23774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498848" y="4069080"/>
            <a:ext cx="502920" cy="5029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14" name="Image 3" descr="icons/broom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578" y="419481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138928" y="40233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2 · Limpieza de la maqueta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498848" y="470916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inicial sobre la maqueta real: limpiar con las manos, detectar anomalías y etiquetarlas.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4498848" y="58521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MANOS EN LA MASA · PASO 1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8083296" y="1325880"/>
            <a:ext cx="3529584" cy="4983480"/>
          </a:xfrm>
          <a:prstGeom prst="roundRect">
            <a:avLst>
              <a:gd name="adj" fmla="val 31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assets/game3_video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66176" y="1508760"/>
            <a:ext cx="3163824" cy="237744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266176" y="4069080"/>
            <a:ext cx="502920" cy="5029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21" name="Image 5" descr="icons/eye_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906" y="4194810"/>
            <a:ext cx="251460" cy="2514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906256" y="40233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3 · Video de los 10 errores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8266176" y="470916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un video del ciclo de limpieza e identificar las 10 cosas que se hicieron mal.</a:t>
            </a:r>
            <a:endParaRPr lang="en-US" sz="1150" dirty="0"/>
          </a:p>
        </p:txBody>
      </p:sp>
      <p:sp>
        <p:nvSpPr>
          <p:cNvPr id="24" name="Text 16"/>
          <p:cNvSpPr txBox="1"/>
          <p:nvPr/>
        </p:nvSpPr>
        <p:spPr>
          <a:xfrm>
            <a:off x="8266176" y="58521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 · PASOS 1 A 3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 6 · Evaluación final y certificación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pic>
        <p:nvPicPr>
          <p:cNvPr id="4" name="Image 0" descr="assets/cer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325880"/>
            <a:ext cx="3017520" cy="470001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pic>
        <p:nvPicPr>
          <p:cNvPr id="5" name="Image 1" descr="assets/eval_pc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49040" y="1325880"/>
            <a:ext cx="3017520" cy="359359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3749040" y="5074920"/>
            <a:ext cx="3017520" cy="950976"/>
          </a:xfrm>
          <a:prstGeom prst="roundRect">
            <a:avLst>
              <a:gd name="adj" fmla="val 11538"/>
            </a:avLst>
          </a:prstGeom>
          <a:solidFill>
            <a:srgbClr val="0B3A73"/>
          </a:solidFill>
          <a:ln w="12700">
            <a:solidFill>
              <a:srgbClr val="0B3A7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931920" y="5120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quiz del inicio: la diferencia de puntaje muestra lo aprendido.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040880" y="1463040"/>
            <a:ext cx="502920" cy="5029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9" name="Image 2" descr="icons/gamepad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610" y="1588770"/>
            <a:ext cx="251460" cy="2514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72400" y="144475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Evaluación final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772400" y="17373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repite el AM Game y se compara con la línea base: así verificamos que el operario aprendió.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040880" y="2971800"/>
            <a:ext cx="502920" cy="5029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13" name="Image 3" descr="icons/lightbulb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610" y="3097530"/>
            <a:ext cx="251460" cy="2514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772400" y="295351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Compromiso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7772400" y="324612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operario escribe qué va a aplicar mañana en su puesto y lo comparte con el grupo.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040880" y="4480560"/>
            <a:ext cx="502920" cy="5029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17" name="Image 4" descr="icons/medal_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610" y="4606290"/>
            <a:ext cx="251460" cy="2514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772400" y="446227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Certificación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7772400" y="475488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del certificado de AM y registro en la matriz de habilidades de la unidad.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implementación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97480" cy="731520"/>
          </a:xfrm>
          <a:prstGeom prst="homePlat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325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8" name="Image 0" descr="icons/ma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6403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2514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546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el espacio físico y el layout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los problemas prioritarios con Mantenimiento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Formar a los multiplicadores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46704" y="1325880"/>
            <a:ext cx="2697480" cy="731520"/>
          </a:xfrm>
          <a:prstGeom prst="chevron">
            <a:avLst/>
          </a:prstGeom>
          <a:solidFill>
            <a:srgbClr val="0B3A73"/>
          </a:solidFill>
          <a:ln w="12700">
            <a:solidFill>
              <a:srgbClr val="0B3A7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12464" y="1325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46704" y="228600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75304" y="2514600"/>
            <a:ext cx="502920" cy="502920"/>
          </a:xfrm>
          <a:prstGeom prst="ellipse">
            <a:avLst/>
          </a:prstGeom>
          <a:solidFill>
            <a:srgbClr val="0B3A73"/>
          </a:solidFill>
          <a:ln w="12700">
            <a:solidFill>
              <a:srgbClr val="0B3A73"/>
            </a:solidFill>
            <a:prstDash val="solid"/>
          </a:ln>
        </p:spPr>
      </p:sp>
      <p:pic>
        <p:nvPicPr>
          <p:cNvPr id="15" name="Image 1" descr="icons/cog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034" y="264033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215384" y="2514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575304" y="31546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Fabricar las 4 maquetas con componentes reales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contenido y estándares LLA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Adaptar el AM Game a Pintura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44768" y="1325880"/>
            <a:ext cx="2697480" cy="731520"/>
          </a:xfrm>
          <a:prstGeom prst="chevron">
            <a:avLst/>
          </a:prstGeom>
          <a:solidFill>
            <a:srgbClr val="079CCE"/>
          </a:solidFill>
          <a:ln w="12700">
            <a:solidFill>
              <a:srgbClr val="079CC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10528" y="1325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144768" y="228600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73368" y="2514600"/>
            <a:ext cx="502920" cy="502920"/>
          </a:xfrm>
          <a:prstGeom prst="ellipse">
            <a:avLst/>
          </a:prstGeom>
          <a:solidFill>
            <a:srgbClr val="079CCE"/>
          </a:solidFill>
          <a:ln w="12700">
            <a:solidFill>
              <a:srgbClr val="079CCE"/>
            </a:solidFill>
            <a:prstDash val="solid"/>
          </a:ln>
        </p:spPr>
      </p:sp>
      <p:pic>
        <p:nvPicPr>
          <p:cNvPr id="22" name="Image 2" descr="icons/rock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098" y="264033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13448" y="2514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373368" y="31546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grupo de operarios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tiempos y dificultad de los juegos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resultados iniciales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942832" y="1325880"/>
            <a:ext cx="2697480" cy="731520"/>
          </a:xfrm>
          <a:prstGeom prst="chevron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308592" y="1325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8942832" y="228600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171432" y="2514600"/>
            <a:ext cx="502920" cy="5029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29" name="Image 3" descr="icons/chart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162" y="264033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811512" y="2514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9171432" y="31546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turnos y líneas de Pintura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y reconocimiento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de indicadores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NECESITAMOS PARA ARRANCAR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48640" y="544068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E3F4FB"/>
          </a:solidFill>
          <a:ln w="12700">
            <a:solidFill>
              <a:srgbClr val="E3F4FB"/>
            </a:solidFill>
            <a:prstDash val="solid"/>
          </a:ln>
        </p:spPr>
      </p:sp>
      <p:pic>
        <p:nvPicPr>
          <p:cNvPr id="34" name="Image 4" descr="icons/building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669280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280160" y="54406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físico dentro de la unidad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3346704" y="544068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E3F4FB"/>
          </a:solidFill>
          <a:ln w="12700">
            <a:solidFill>
              <a:srgbClr val="E3F4FB"/>
            </a:solidFill>
            <a:prstDash val="solid"/>
          </a:ln>
        </p:spPr>
      </p:sp>
      <p:pic>
        <p:nvPicPr>
          <p:cNvPr id="37" name="Image 5" descr="icons/tools_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9584" y="5669280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078224" y="54406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reales para las maquetas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6144768" y="544068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E3F4FB"/>
          </a:solidFill>
          <a:ln w="12700">
            <a:solidFill>
              <a:srgbClr val="E3F4FB"/>
            </a:solidFill>
            <a:prstDash val="solid"/>
          </a:ln>
        </p:spPr>
      </p:sp>
      <p:pic>
        <p:nvPicPr>
          <p:cNvPr id="40" name="Image 6" descr="icons/users_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5669280"/>
            <a:ext cx="411480" cy="41148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876288" y="54406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Multiplicadores del área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8942832" y="544068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E3F4FB"/>
          </a:solidFill>
          <a:ln w="12700">
            <a:solidFill>
              <a:srgbClr val="E3F4FB"/>
            </a:solidFill>
            <a:prstDash val="solid"/>
          </a:ln>
        </p:spPr>
      </p:sp>
      <p:pic>
        <p:nvPicPr>
          <p:cNvPr id="43" name="Image 7" descr="icons/clock_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5712" y="5669280"/>
            <a:ext cx="411480" cy="41148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674352" y="54406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Liberación de operarios por turno</a:t>
            </a:r>
            <a:endParaRPr lang="en-US" sz="1150" dirty="0"/>
          </a:p>
        </p:txBody>
      </p:sp>
      <p:sp>
        <p:nvSpPr>
          <p:cNvPr id="45" name="Text 35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del proyecto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al 18/09/2026. Las tareas se agrupan en las 4 fases del plan.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977640" y="1399032"/>
            <a:ext cx="1521562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77640" y="1399032"/>
            <a:ext cx="15215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77640" y="1783080"/>
            <a:ext cx="0" cy="4197096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99202" y="1399032"/>
            <a:ext cx="181417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99202" y="1399032"/>
            <a:ext cx="18141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99202" y="1783080"/>
            <a:ext cx="0" cy="4197096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3371" y="1399032"/>
            <a:ext cx="1755648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3371" y="139903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3371" y="1783080"/>
            <a:ext cx="0" cy="4197096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69019" y="1399032"/>
            <a:ext cx="181417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69019" y="1399032"/>
            <a:ext cx="18141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Octubre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9019" y="1783080"/>
            <a:ext cx="0" cy="4197096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83189" y="1399032"/>
            <a:ext cx="409651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883189" y="1399032"/>
            <a:ext cx="4096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883189" y="1783080"/>
            <a:ext cx="0" cy="4197096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7291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96942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06594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6245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5896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5547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45198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54850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64501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83803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93454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3106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12757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22408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32059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41710" y="1783080"/>
            <a:ext cx="0" cy="4197096"/>
          </a:xfrm>
          <a:prstGeom prst="line">
            <a:avLst/>
          </a:prstGeom>
          <a:noFill/>
          <a:ln w="6350">
            <a:solidFill>
              <a:srgbClr val="EEF1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311128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1783080"/>
            <a:ext cx="11091672" cy="233172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1783080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Diseño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3017520" y="1783080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07/07 – 27/08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036162" y="1847088"/>
            <a:ext cx="2984602" cy="105156"/>
          </a:xfrm>
          <a:prstGeom prst="rect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2016252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del Dojo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3017520" y="2016252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07/07 – 07/07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036162" y="2061972"/>
            <a:ext cx="73152" cy="141732"/>
          </a:xfrm>
          <a:prstGeom prst="roundRect">
            <a:avLst>
              <a:gd name="adj" fmla="val 62500"/>
            </a:avLst>
          </a:prstGeom>
          <a:solidFill>
            <a:srgbClr val="022A5B">
              <a:alpha val="30000"/>
            </a:srgbClr>
          </a:solidFill>
          <a:ln w="9525">
            <a:solidFill>
              <a:srgbClr val="022A5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36162" y="2061972"/>
            <a:ext cx="73152" cy="141732"/>
          </a:xfrm>
          <a:prstGeom prst="roundRect">
            <a:avLst>
              <a:gd name="adj" fmla="val 62500"/>
            </a:avLst>
          </a:prstGeom>
          <a:solidFill>
            <a:srgbClr val="022A5B"/>
          </a:solidFill>
          <a:ln w="9525">
            <a:solidFill>
              <a:srgbClr val="022A5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311128" y="2016252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868680" y="2249424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teórico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3017520" y="2249424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13/07 – 25/07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387291" y="2295144"/>
            <a:ext cx="702259" cy="141732"/>
          </a:xfrm>
          <a:prstGeom prst="roundRect">
            <a:avLst>
              <a:gd name="adj" fmla="val 32258"/>
            </a:avLst>
          </a:prstGeom>
          <a:solidFill>
            <a:srgbClr val="022A5B">
              <a:alpha val="30000"/>
            </a:srgbClr>
          </a:solidFill>
          <a:ln w="9525">
            <a:solidFill>
              <a:srgbClr val="022A5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7291" y="2295144"/>
            <a:ext cx="702259" cy="141732"/>
          </a:xfrm>
          <a:prstGeom prst="roundRect">
            <a:avLst>
              <a:gd name="adj" fmla="val 32258"/>
            </a:avLst>
          </a:prstGeom>
          <a:solidFill>
            <a:srgbClr val="022A5B"/>
          </a:solidFill>
          <a:ln w="9525">
            <a:solidFill>
              <a:srgbClr val="022A5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1311128" y="2249424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868680" y="2482596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Corroboración técnica y elementos por gestión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3017520" y="2482596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22/07 – 05/08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913986" y="2528316"/>
            <a:ext cx="819302" cy="141732"/>
          </a:xfrm>
          <a:prstGeom prst="roundRect">
            <a:avLst>
              <a:gd name="adj" fmla="val 32258"/>
            </a:avLst>
          </a:prstGeom>
          <a:solidFill>
            <a:srgbClr val="022A5B">
              <a:alpha val="30000"/>
            </a:srgbClr>
          </a:solidFill>
          <a:ln w="9525">
            <a:solidFill>
              <a:srgbClr val="022A5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13986" y="2528316"/>
            <a:ext cx="819302" cy="141732"/>
          </a:xfrm>
          <a:prstGeom prst="roundRect">
            <a:avLst>
              <a:gd name="adj" fmla="val 32258"/>
            </a:avLst>
          </a:prstGeom>
          <a:solidFill>
            <a:srgbClr val="022A5B"/>
          </a:solidFill>
          <a:ln w="9525">
            <a:solidFill>
              <a:srgbClr val="022A5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1311128" y="2482596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868680" y="2715768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Conformación de evaluaciones teóricas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3017520" y="271576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02/08 – 16/08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557723" y="2761488"/>
            <a:ext cx="819302" cy="141732"/>
          </a:xfrm>
          <a:prstGeom prst="roundRect">
            <a:avLst>
              <a:gd name="adj" fmla="val 32258"/>
            </a:avLst>
          </a:prstGeom>
          <a:solidFill>
            <a:srgbClr val="022A5B">
              <a:alpha val="30000"/>
            </a:srgbClr>
          </a:solidFill>
          <a:ln w="9525">
            <a:solidFill>
              <a:srgbClr val="022A5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57723" y="2761488"/>
            <a:ext cx="573512" cy="141732"/>
          </a:xfrm>
          <a:prstGeom prst="roundRect">
            <a:avLst>
              <a:gd name="adj" fmla="val 32258"/>
            </a:avLst>
          </a:prstGeom>
          <a:solidFill>
            <a:srgbClr val="022A5B"/>
          </a:solidFill>
          <a:ln w="9525">
            <a:solidFill>
              <a:srgbClr val="022A5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1311128" y="2715768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868680" y="2948940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juegos por cada Dojo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3017520" y="2948940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13/08 – 27/08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201461" y="2994660"/>
            <a:ext cx="819302" cy="141732"/>
          </a:xfrm>
          <a:prstGeom prst="roundRect">
            <a:avLst>
              <a:gd name="adj" fmla="val 32258"/>
            </a:avLst>
          </a:prstGeom>
          <a:solidFill>
            <a:srgbClr val="022A5B">
              <a:alpha val="30000"/>
            </a:srgbClr>
          </a:solidFill>
          <a:ln w="9525">
            <a:solidFill>
              <a:srgbClr val="022A5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01461" y="2994660"/>
            <a:ext cx="819302" cy="141732"/>
          </a:xfrm>
          <a:prstGeom prst="roundRect">
            <a:avLst>
              <a:gd name="adj" fmla="val 32258"/>
            </a:avLst>
          </a:prstGeom>
          <a:solidFill>
            <a:srgbClr val="022A5B"/>
          </a:solidFill>
          <a:ln w="9525">
            <a:solidFill>
              <a:srgbClr val="022A5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1311128" y="2948940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48640" y="3182112"/>
            <a:ext cx="11091672" cy="233172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40080" y="3182112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· Construcción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3017520" y="3182112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24/08 – 10/10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845198" y="3246120"/>
            <a:ext cx="2750515" cy="105156"/>
          </a:xfrm>
          <a:prstGeom prst="rect">
            <a:avLst/>
          </a:prstGeom>
          <a:solidFill>
            <a:srgbClr val="0B3A73"/>
          </a:solidFill>
          <a:ln w="12700">
            <a:solidFill>
              <a:srgbClr val="0B3A73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68680" y="3415284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Recopilación de herramientas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3017520" y="3415284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24/08 – 07/09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845198" y="3461004"/>
            <a:ext cx="819302" cy="141732"/>
          </a:xfrm>
          <a:prstGeom prst="roundRect">
            <a:avLst>
              <a:gd name="adj" fmla="val 32258"/>
            </a:avLst>
          </a:prstGeom>
          <a:solidFill>
            <a:srgbClr val="0B3A73">
              <a:alpha val="30000"/>
            </a:srgbClr>
          </a:solidFill>
          <a:ln w="9525">
            <a:solidFill>
              <a:srgbClr val="0B3A7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45198" y="3461004"/>
            <a:ext cx="409651" cy="141732"/>
          </a:xfrm>
          <a:prstGeom prst="roundRect">
            <a:avLst>
              <a:gd name="adj" fmla="val 32258"/>
            </a:avLst>
          </a:prstGeom>
          <a:solidFill>
            <a:srgbClr val="0B3A73"/>
          </a:solidFill>
          <a:ln w="9525">
            <a:solidFill>
              <a:srgbClr val="0B3A73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1311128" y="3415284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868680" y="3648456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del espacio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3017520" y="3648456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04/09 – 18/09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488936" y="3694176"/>
            <a:ext cx="819302" cy="141732"/>
          </a:xfrm>
          <a:prstGeom prst="roundRect">
            <a:avLst>
              <a:gd name="adj" fmla="val 32258"/>
            </a:avLst>
          </a:prstGeom>
          <a:solidFill>
            <a:srgbClr val="0B3A73">
              <a:alpha val="30000"/>
            </a:srgbClr>
          </a:solidFill>
          <a:ln w="9525">
            <a:solidFill>
              <a:srgbClr val="0B3A7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88936" y="3694176"/>
            <a:ext cx="819302" cy="141732"/>
          </a:xfrm>
          <a:prstGeom prst="roundRect">
            <a:avLst>
              <a:gd name="adj" fmla="val 32258"/>
            </a:avLst>
          </a:prstGeom>
          <a:solidFill>
            <a:srgbClr val="0B3A73"/>
          </a:solidFill>
          <a:ln w="9525">
            <a:solidFill>
              <a:srgbClr val="0B3A73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1311128" y="3648456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868680" y="3881628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de elementos</a:t>
            </a:r>
            <a:endParaRPr 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3017520" y="38816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15/09 – 29/09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132674" y="3927348"/>
            <a:ext cx="819302" cy="141732"/>
          </a:xfrm>
          <a:prstGeom prst="roundRect">
            <a:avLst>
              <a:gd name="adj" fmla="val 32258"/>
            </a:avLst>
          </a:prstGeom>
          <a:solidFill>
            <a:srgbClr val="0B3A73">
              <a:alpha val="30000"/>
            </a:srgbClr>
          </a:solidFill>
          <a:ln w="9525">
            <a:solidFill>
              <a:srgbClr val="0B3A7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32674" y="3927348"/>
            <a:ext cx="163860" cy="141732"/>
          </a:xfrm>
          <a:prstGeom prst="roundRect">
            <a:avLst>
              <a:gd name="adj" fmla="val 32258"/>
            </a:avLst>
          </a:prstGeom>
          <a:solidFill>
            <a:srgbClr val="0B3A73"/>
          </a:solidFill>
          <a:ln w="9525">
            <a:solidFill>
              <a:srgbClr val="0B3A73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1311128" y="3881628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868680" y="4114800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de stands y pasaporte</a:t>
            </a:r>
            <a:endParaRPr 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3017520" y="4114800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26/09 – 10/10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8776411" y="4160520"/>
            <a:ext cx="819302" cy="141732"/>
          </a:xfrm>
          <a:prstGeom prst="roundRect">
            <a:avLst>
              <a:gd name="adj" fmla="val 32258"/>
            </a:avLst>
          </a:prstGeom>
          <a:solidFill>
            <a:srgbClr val="0B3A73">
              <a:alpha val="30000"/>
            </a:srgbClr>
          </a:solidFill>
          <a:ln w="9525">
            <a:solidFill>
              <a:srgbClr val="0B3A7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6411" y="4160520"/>
            <a:ext cx="163860" cy="141732"/>
          </a:xfrm>
          <a:prstGeom prst="roundRect">
            <a:avLst>
              <a:gd name="adj" fmla="val 32258"/>
            </a:avLst>
          </a:prstGeom>
          <a:solidFill>
            <a:srgbClr val="0B3A73"/>
          </a:solidFill>
          <a:ln w="9525">
            <a:solidFill>
              <a:srgbClr val="0B3A73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1311128" y="4114800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48640" y="4347972"/>
            <a:ext cx="11091672" cy="233172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40080" y="4347972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Piloto</a:t>
            </a:r>
            <a:endParaRPr lang="en-US" sz="950" dirty="0"/>
          </a:p>
        </p:txBody>
      </p:sp>
      <p:sp>
        <p:nvSpPr>
          <p:cNvPr id="94" name="Text 92"/>
          <p:cNvSpPr txBox="1"/>
          <p:nvPr/>
        </p:nvSpPr>
        <p:spPr>
          <a:xfrm>
            <a:off x="3017520" y="4347972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07/10 – 18/10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9420149" y="4411980"/>
            <a:ext cx="643738" cy="105156"/>
          </a:xfrm>
          <a:prstGeom prst="rect">
            <a:avLst/>
          </a:prstGeom>
          <a:solidFill>
            <a:srgbClr val="079CCE"/>
          </a:solidFill>
          <a:ln w="12700">
            <a:solidFill>
              <a:srgbClr val="079CCE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68680" y="4581144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piloto en Overview + fotos</a:t>
            </a:r>
            <a:endParaRPr lang="en-US" sz="850" dirty="0"/>
          </a:p>
        </p:txBody>
      </p:sp>
      <p:sp>
        <p:nvSpPr>
          <p:cNvPr id="97" name="Text 95"/>
          <p:cNvSpPr txBox="1"/>
          <p:nvPr/>
        </p:nvSpPr>
        <p:spPr>
          <a:xfrm>
            <a:off x="3017520" y="4581144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07/10 – 14/10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9420149" y="4626864"/>
            <a:ext cx="409651" cy="141732"/>
          </a:xfrm>
          <a:prstGeom prst="roundRect">
            <a:avLst>
              <a:gd name="adj" fmla="val 32258"/>
            </a:avLst>
          </a:prstGeom>
          <a:solidFill>
            <a:srgbClr val="079CCE">
              <a:alpha val="30000"/>
            </a:srgbClr>
          </a:solidFill>
          <a:ln w="9525">
            <a:solidFill>
              <a:srgbClr val="079CCE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1311128" y="4581144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868680" y="4814316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piloto</a:t>
            </a:r>
            <a:endParaRPr lang="en-US" sz="850" dirty="0"/>
          </a:p>
        </p:txBody>
      </p:sp>
      <p:sp>
        <p:nvSpPr>
          <p:cNvPr id="101" name="Text 99"/>
          <p:cNvSpPr txBox="1"/>
          <p:nvPr/>
        </p:nvSpPr>
        <p:spPr>
          <a:xfrm>
            <a:off x="3017520" y="4814316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11/10 – 18/10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9654235" y="4860036"/>
            <a:ext cx="409651" cy="141732"/>
          </a:xfrm>
          <a:prstGeom prst="roundRect">
            <a:avLst>
              <a:gd name="adj" fmla="val 32258"/>
            </a:avLst>
          </a:prstGeom>
          <a:solidFill>
            <a:srgbClr val="079CCE">
              <a:alpha val="30000"/>
            </a:srgbClr>
          </a:solidFill>
          <a:ln w="9525">
            <a:solidFill>
              <a:srgbClr val="079CCE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1311128" y="4814316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548640" y="5047488"/>
            <a:ext cx="11091672" cy="233172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40080" y="5047488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· Despliegue</a:t>
            </a:r>
            <a:endParaRPr lang="en-US" sz="950" dirty="0"/>
          </a:p>
        </p:txBody>
      </p:sp>
      <p:sp>
        <p:nvSpPr>
          <p:cNvPr id="106" name="Text 104"/>
          <p:cNvSpPr txBox="1"/>
          <p:nvPr/>
        </p:nvSpPr>
        <p:spPr>
          <a:xfrm>
            <a:off x="3017520" y="504748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15/10 – 06/11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9888322" y="5111496"/>
            <a:ext cx="1287475" cy="105156"/>
          </a:xfrm>
          <a:prstGeom prst="rect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868680" y="5280660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850" dirty="0"/>
          </a:p>
        </p:txBody>
      </p:sp>
      <p:sp>
        <p:nvSpPr>
          <p:cNvPr id="109" name="Text 107"/>
          <p:cNvSpPr txBox="1"/>
          <p:nvPr/>
        </p:nvSpPr>
        <p:spPr>
          <a:xfrm>
            <a:off x="3017520" y="5280660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15/10 – 29/10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9888322" y="5326380"/>
            <a:ext cx="819302" cy="141732"/>
          </a:xfrm>
          <a:prstGeom prst="roundRect">
            <a:avLst>
              <a:gd name="adj" fmla="val 32258"/>
            </a:avLst>
          </a:prstGeom>
          <a:solidFill>
            <a:srgbClr val="FFA403">
              <a:alpha val="30000"/>
            </a:srgbClr>
          </a:solidFill>
          <a:ln w="9525">
            <a:solidFill>
              <a:srgbClr val="FFA403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1311128" y="5280660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112" name="Text 110"/>
          <p:cNvSpPr txBox="1"/>
          <p:nvPr/>
        </p:nvSpPr>
        <p:spPr>
          <a:xfrm>
            <a:off x="868680" y="5513832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Gerencia / Calidad / Producción</a:t>
            </a:r>
            <a:endParaRPr lang="en-US" sz="850" dirty="0"/>
          </a:p>
        </p:txBody>
      </p:sp>
      <p:sp>
        <p:nvSpPr>
          <p:cNvPr id="113" name="Text 111"/>
          <p:cNvSpPr txBox="1"/>
          <p:nvPr/>
        </p:nvSpPr>
        <p:spPr>
          <a:xfrm>
            <a:off x="3017520" y="5513832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19/10 – 22/10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10122408" y="5559552"/>
            <a:ext cx="175565" cy="141732"/>
          </a:xfrm>
          <a:prstGeom prst="roundRect">
            <a:avLst>
              <a:gd name="adj" fmla="val 32258"/>
            </a:avLst>
          </a:prstGeom>
          <a:solidFill>
            <a:srgbClr val="FFA403">
              <a:alpha val="30000"/>
            </a:srgbClr>
          </a:solidFill>
          <a:ln w="9525">
            <a:solidFill>
              <a:srgbClr val="FFA403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11311128" y="5513832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116" name="Text 114"/>
          <p:cNvSpPr txBox="1"/>
          <p:nvPr/>
        </p:nvSpPr>
        <p:spPr>
          <a:xfrm>
            <a:off x="868680" y="5747004"/>
            <a:ext cx="2240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y ajustes post implementación</a:t>
            </a:r>
            <a:endParaRPr lang="en-US" sz="850" dirty="0"/>
          </a:p>
        </p:txBody>
      </p:sp>
      <p:sp>
        <p:nvSpPr>
          <p:cNvPr id="117" name="Text 115"/>
          <p:cNvSpPr txBox="1"/>
          <p:nvPr/>
        </p:nvSpPr>
        <p:spPr>
          <a:xfrm>
            <a:off x="3017520" y="5747004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30/10 – 06/11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10766146" y="5792724"/>
            <a:ext cx="409651" cy="141732"/>
          </a:xfrm>
          <a:prstGeom prst="roundRect">
            <a:avLst>
              <a:gd name="adj" fmla="val 32258"/>
            </a:avLst>
          </a:prstGeom>
          <a:solidFill>
            <a:srgbClr val="FFA403">
              <a:alpha val="30000"/>
            </a:srgbClr>
          </a:solidFill>
          <a:ln w="9525">
            <a:solidFill>
              <a:srgbClr val="FFA403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1311128" y="5747004"/>
            <a:ext cx="3291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8308238" y="1728216"/>
            <a:ext cx="0" cy="4251960"/>
          </a:xfrm>
          <a:prstGeom prst="line">
            <a:avLst/>
          </a:prstGeom>
          <a:noFill/>
          <a:ln w="19050">
            <a:solidFill>
              <a:srgbClr val="E42312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8015630" y="1179576"/>
            <a:ext cx="585216" cy="201168"/>
          </a:xfrm>
          <a:prstGeom prst="roundRect">
            <a:avLst>
              <a:gd name="adj" fmla="val 22727"/>
            </a:avLst>
          </a:prstGeom>
          <a:solidFill>
            <a:srgbClr val="E42312"/>
          </a:solidFill>
          <a:ln w="12700">
            <a:solidFill>
              <a:srgbClr val="E42312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8015630" y="117957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18/09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9972446" y="4373118"/>
            <a:ext cx="182880" cy="182880"/>
          </a:xfrm>
          <a:prstGeom prst="diamond">
            <a:avLst/>
          </a:prstGeom>
          <a:solidFill>
            <a:srgbClr val="E423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206533" y="5072634"/>
            <a:ext cx="182880" cy="182880"/>
          </a:xfrm>
          <a:prstGeom prst="diamond">
            <a:avLst/>
          </a:prstGeom>
          <a:solidFill>
            <a:srgbClr val="E423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084357" y="5072634"/>
            <a:ext cx="182880" cy="182880"/>
          </a:xfrm>
          <a:prstGeom prst="diamond">
            <a:avLst/>
          </a:prstGeom>
          <a:solidFill>
            <a:srgbClr val="E423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40080" y="6135624"/>
            <a:ext cx="365760" cy="146304"/>
          </a:xfrm>
          <a:prstGeom prst="roundRect">
            <a:avLst>
              <a:gd name="adj" fmla="val 25000"/>
            </a:avLst>
          </a:prstGeom>
          <a:solidFill>
            <a:srgbClr val="0B3A73">
              <a:alpha val="30000"/>
            </a:srgbClr>
          </a:solidFill>
          <a:ln w="9525">
            <a:solidFill>
              <a:srgbClr val="0B3A7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40080" y="6135624"/>
            <a:ext cx="182880" cy="146304"/>
          </a:xfrm>
          <a:prstGeom prst="roundRect">
            <a:avLst>
              <a:gd name="adj" fmla="val 25000"/>
            </a:avLst>
          </a:prstGeom>
          <a:solidFill>
            <a:srgbClr val="0B3A73"/>
          </a:solidFill>
          <a:ln w="9525">
            <a:solidFill>
              <a:srgbClr val="0B3A73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1097280" y="60899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oscura de la barra = avance real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4114800" y="6126480"/>
            <a:ext cx="164592" cy="164592"/>
          </a:xfrm>
          <a:prstGeom prst="diamond">
            <a:avLst/>
          </a:prstGeom>
          <a:solidFill>
            <a:srgbClr val="E423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4389120" y="608990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Hitos: 18/10 prueba piloto · 22/10 validación con Gerencia, Calidad y Producción · 06/11 cierre del seguimiento inicial</a:t>
            </a:r>
            <a:endParaRPr lang="en-US" sz="850" dirty="0"/>
          </a:p>
        </p:txBody>
      </p:sp>
      <p:sp>
        <p:nvSpPr>
          <p:cNvPr id="131" name="Text 129"/>
          <p:cNvSpPr txBox="1"/>
          <p:nvPr/>
        </p:nvSpPr>
        <p:spPr>
          <a:xfrm>
            <a:off x="640080" y="63459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al 18/09: 7 de 14 tareas terminadas, 4 en curso (evaluaciones teóricas 70%, herramientas 50%, identificación de elementos 20%, prototipo de stands 20%) y 2 vencidas sin cerrar: evaluaciones teóricas y recopilación de herramientas.</a:t>
            </a:r>
            <a:endParaRPr lang="en-US" sz="850" dirty="0"/>
          </a:p>
        </p:txBody>
      </p:sp>
      <p:sp>
        <p:nvSpPr>
          <p:cNvPr id="132" name="Text 130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sabremos que funciona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 ·  UNIDAD PINTURA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206240" cy="4983480"/>
          </a:xfrm>
          <a:prstGeom prst="roundRect">
            <a:avLst>
              <a:gd name="adj" fmla="val 2609"/>
            </a:avLst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rgbClr val="FFA403"/>
          </a:solidFill>
          <a:ln w="12700">
            <a:solidFill>
              <a:srgbClr val="FFA403"/>
            </a:solidFill>
            <a:prstDash val="solid"/>
          </a:ln>
        </p:spPr>
      </p:sp>
      <p:pic>
        <p:nvPicPr>
          <p:cNvPr id="6" name="Image 0" descr="icons/target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175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Producción resuelva lo básico y Mantenimiento se dedique a lo complejo.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463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indicadores se miden antes del piloto (línea base) y cada mes después del despliegue.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0" y="1325880"/>
            <a:ext cx="661111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12080" y="1499616"/>
            <a:ext cx="548640" cy="54864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12" name="Image 1" descr="icons/gra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3677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943600" y="143560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Operarios certificados en los pasos 1 a 3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1755648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Porcentaje sobre el total de la unidad, por turno y por línea.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0" y="2331720"/>
            <a:ext cx="661111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12080" y="2505456"/>
            <a:ext cx="548640" cy="54864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17" name="Image 2" descr="icons/gamepa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6426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943600" y="24414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entre evaluación inicial y final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943600" y="2761488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de puntaje en el AM Game antes y después de la sesión, y resultado de los 3 juegos.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0" y="3337560"/>
            <a:ext cx="661111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212080" y="3511296"/>
            <a:ext cx="548640" cy="54864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22" name="Image 3" descr="icons/tag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64845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943600" y="344728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Anomalías detectadas por operarios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5943600" y="3767328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 abiertas y cerradas por Producción, no por Mantenimiento.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029200" y="4343400"/>
            <a:ext cx="661111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212080" y="4517136"/>
            <a:ext cx="548640" cy="54864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27" name="Image 4" descr="icons/wrench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465429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943600" y="445312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Intervenciones básicas resueltas por Producción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5943600" y="4773168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Limpiezas de pistola, cambios de filtro y aprietes sin llamar a Mantenimiento.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029200" y="5349240"/>
            <a:ext cx="661111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212080" y="5522976"/>
            <a:ext cx="548640" cy="548640"/>
          </a:xfrm>
          <a:prstGeom prst="ellipse">
            <a:avLst/>
          </a:prstGeom>
          <a:solidFill>
            <a:srgbClr val="022A5B"/>
          </a:solidFill>
          <a:ln w="12700">
            <a:solidFill>
              <a:srgbClr val="022A5B"/>
            </a:solidFill>
            <a:prstDash val="solid"/>
          </a:ln>
        </p:spPr>
      </p:sp>
      <p:pic>
        <p:nvPicPr>
          <p:cNvPr id="32" name="Image 5" descr="icons/bol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5660136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943600" y="545896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Paradas por causas básicas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5943600" y="5779008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Minutos perdidos por pistola tapada, filtro saturado o fuga, antes y después del Dojo.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1115568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dojo_betim_entrance.jp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46304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aprendemos, practicamos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A4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crecemos juntos.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79C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Dojo de Mantenimiento Autónomo · Unidad Pintura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448056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0B3A73"/>
          </a:solidFill>
          <a:ln w="12700">
            <a:solidFill>
              <a:srgbClr val="0B3A73"/>
            </a:solidFill>
            <a:prstDash val="solid"/>
          </a:ln>
        </p:spPr>
      </p:sp>
      <p:pic>
        <p:nvPicPr>
          <p:cNvPr id="6" name="Image 1" descr="icons/rocke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006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44805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4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el espacio y arrancar la Fase 1 · Diseño, junto con Mantenimiento y los multiplicadores del área.</a:t>
            </a:r>
            <a:endParaRPr lang="en-US" sz="1400" dirty="0"/>
          </a:p>
        </p:txBody>
      </p:sp>
      <p:pic>
        <p:nvPicPr>
          <p:cNvPr id="8" name="Image 2" descr="assets/masc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3017520"/>
            <a:ext cx="2011680" cy="3017520"/>
          </a:xfrm>
          <a:prstGeom prst="rect">
            <a:avLst/>
          </a:prstGeom>
        </p:spPr>
      </p:pic>
      <p:pic>
        <p:nvPicPr>
          <p:cNvPr id="9" name="Image 3" descr="assets/am_log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806440"/>
            <a:ext cx="868680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Dojo de Mantenimiento Autónomo – Unidad Pintura</dc:title>
  <dc:subject>PptxGenJS Presentation</dc:subject>
  <dc:creator>Stellantis – Unidad Pintura</dc:creator>
  <cp:lastModifiedBy>Stellantis – Unidad Pintura</cp:lastModifiedBy>
  <cp:revision>1</cp:revision>
  <dcterms:created xsi:type="dcterms:W3CDTF">2026-09-18T15:11:38Z</dcterms:created>
  <dcterms:modified xsi:type="dcterms:W3CDTF">2026-09-18T15:11:38Z</dcterms:modified>
</cp:coreProperties>
</file>